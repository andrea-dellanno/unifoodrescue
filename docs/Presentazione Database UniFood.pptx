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6" r:id="rId19"/>
    <p:sldId id="280" r:id="rId20"/>
    <p:sldId id="281" r:id="rId21"/>
    <p:sldId id="282" r:id="rId22"/>
    <p:sldId id="283" r:id="rId23"/>
    <p:sldId id="284" r:id="rId2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001" autoAdjust="0"/>
  </p:normalViewPr>
  <p:slideViewPr>
    <p:cSldViewPr snapToGrid="0">
      <p:cViewPr>
        <p:scale>
          <a:sx n="80" d="100"/>
          <a:sy n="80" d="100"/>
        </p:scale>
        <p:origin x="682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6FA308B-8EDF-4B4B-99A3-227F39CDDC65}"/>
              </a:ext>
            </a:extLst>
          </p:cNvPr>
          <p:cNvSpPr>
            <a:spLocks noGrp="1"/>
          </p:cNvSpPr>
          <p:nvPr/>
        </p:nvSpPr>
        <p:spPr>
          <a:xfrm>
            <a:off x="0" y="5029200"/>
            <a:ext cx="5810250" cy="1828800"/>
          </a:xfrm>
          <a:prstGeom prst="rect">
            <a:avLst/>
          </a:prstGeom>
          <a:solidFill>
            <a:srgbClr val="315F73"/>
          </a:solidFill>
          <a:ln w="0">
            <a:solidFill>
              <a:schemeClr val="accent1">
                <a:lumMod val="20000"/>
                <a:lumOff val="80000"/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FAEA5A-C97E-4810-B8ED-E4DC09717B0F}"/>
              </a:ext>
            </a:extLst>
          </p:cNvPr>
          <p:cNvSpPr>
            <a:spLocks noGrp="1"/>
          </p:cNvSpPr>
          <p:nvPr/>
        </p:nvSpPr>
        <p:spPr>
          <a:xfrm>
            <a:off x="5810250" y="5029200"/>
            <a:ext cx="2190750" cy="18288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C21D7C-CDB5-44EC-947A-CB2C4D84DA94}"/>
              </a:ext>
            </a:extLst>
          </p:cNvPr>
          <p:cNvSpPr>
            <a:spLocks noGrp="1"/>
          </p:cNvSpPr>
          <p:nvPr/>
        </p:nvSpPr>
        <p:spPr>
          <a:xfrm>
            <a:off x="6496050" y="495300"/>
            <a:ext cx="4762500" cy="5219700"/>
          </a:xfrm>
          <a:prstGeom prst="rect">
            <a:avLst/>
          </a:prstGeom>
          <a:solidFill>
            <a:srgbClr val="1F28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5BFD2E-8EC8-4366-8921-7983C758ECF8}"/>
              </a:ext>
            </a:extLst>
          </p:cNvPr>
          <p:cNvSpPr>
            <a:spLocks noGrp="1"/>
          </p:cNvSpPr>
          <p:nvPr/>
        </p:nvSpPr>
        <p:spPr>
          <a:xfrm>
            <a:off x="6324600" y="323850"/>
            <a:ext cx="304800" cy="504825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35F047-85CB-43D6-A91D-9FBAD3D1A327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742950" cy="28575"/>
          </a:xfrm>
          <a:prstGeom prst="rect">
            <a:avLst/>
          </a:prstGeom>
          <a:solidFill>
            <a:srgbClr val="ADC7CF"/>
          </a:solidFill>
          <a:ln w="0">
            <a:solidFill>
              <a:srgbClr val="ADC7C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77F4CC-DDC3-4060-9BB5-48DC7D32C28E}"/>
              </a:ext>
            </a:extLst>
          </p:cNvPr>
          <p:cNvSpPr>
            <a:spLocks noGrp="1"/>
          </p:cNvSpPr>
          <p:nvPr/>
        </p:nvSpPr>
        <p:spPr>
          <a:xfrm>
            <a:off x="666750" y="5848350"/>
            <a:ext cx="514350" cy="28575"/>
          </a:xfrm>
          <a:prstGeom prst="rect">
            <a:avLst/>
          </a:prstGeom>
          <a:solidFill>
            <a:srgbClr val="ADC7CF"/>
          </a:solidFill>
          <a:ln w="0">
            <a:solidFill>
              <a:srgbClr val="ADC7C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E76F0D-F6E0-43DF-A795-F656374B57B2}"/>
              </a:ext>
            </a:extLst>
          </p:cNvPr>
          <p:cNvSpPr>
            <a:spLocks noGrp="1"/>
          </p:cNvSpPr>
          <p:nvPr/>
        </p:nvSpPr>
        <p:spPr>
          <a:xfrm>
            <a:off x="666750" y="5981700"/>
            <a:ext cx="266700" cy="28575"/>
          </a:xfrm>
          <a:prstGeom prst="rect">
            <a:avLst/>
          </a:prstGeom>
          <a:solidFill>
            <a:srgbClr val="ADC7CF"/>
          </a:solidFill>
          <a:ln w="0">
            <a:solidFill>
              <a:srgbClr val="ADC7C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E914FF-5165-49B2-8D04-C9E35F8A5B88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3714750" cy="1762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</a:t>
            </a:r>
          </a:p>
          <a:p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UNIFOOD</a:t>
            </a:r>
          </a:p>
          <a:p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RESCUE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C68A42-0772-48AA-8C93-828BD0A73C64}"/>
              </a:ext>
            </a:extLst>
          </p:cNvPr>
          <p:cNvSpPr>
            <a:spLocks noGrp="1"/>
          </p:cNvSpPr>
          <p:nvPr/>
        </p:nvSpPr>
        <p:spPr>
          <a:xfrm>
            <a:off x="552450" y="3219450"/>
            <a:ext cx="3190875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725" b="1">
                <a:solidFill>
                  <a:srgbClr val="DCE7E9"/>
                </a:solidFill>
              </a:defRPr>
            </a:pPr>
            <a:r>
              <a:rPr sz="1725" b="1">
                <a:solidFill>
                  <a:srgbClr val="DCE7E9"/>
                </a:solidFill>
                <a:latin typeface="Arial"/>
                <a:ea typeface="Arial"/>
                <a:cs typeface="Arial"/>
              </a:rPr>
              <a:t>Progettazione e</a:t>
            </a:r>
          </a:p>
          <a:p>
            <a:pPr algn="l">
              <a:defRPr sz="1725" b="1">
                <a:solidFill>
                  <a:srgbClr val="DCE7E9"/>
                </a:solidFill>
              </a:defRPr>
            </a:pPr>
            <a:r>
              <a:rPr sz="1725" b="1">
                <a:solidFill>
                  <a:srgbClr val="DCE7E9"/>
                </a:solidFill>
                <a:latin typeface="Arial"/>
                <a:ea typeface="Arial"/>
                <a:cs typeface="Arial"/>
              </a:rPr>
              <a:t>sviluppo web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311047-C7FE-408A-8684-2D19EB0CEE0E}"/>
              </a:ext>
            </a:extLst>
          </p:cNvPr>
          <p:cNvSpPr>
            <a:spLocks noGrp="1"/>
          </p:cNvSpPr>
          <p:nvPr/>
        </p:nvSpPr>
        <p:spPr>
          <a:xfrm>
            <a:off x="619125" y="5619750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ANDREA DELL'ANNO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 l="20158" r="20158"/>
          <a:stretch>
            <a:fillRect/>
          </a:stretch>
        </p:blipFill>
        <p:spPr>
          <a:xfrm>
            <a:off x="6705600" y="685800"/>
            <a:ext cx="422910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81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800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AF70E45-4B7C-400C-BCDF-7919D817D6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D9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942B53-48DB-486C-90ED-187FCF818107}"/>
              </a:ext>
            </a:extLst>
          </p:cNvPr>
          <p:cNvSpPr>
            <a:spLocks noGrp="1"/>
          </p:cNvSpPr>
          <p:nvPr/>
        </p:nvSpPr>
        <p:spPr>
          <a:xfrm>
            <a:off x="419100" y="0"/>
            <a:ext cx="76200" cy="6858000"/>
          </a:xfrm>
          <a:prstGeom prst="rect">
            <a:avLst/>
          </a:prstGeom>
          <a:solidFill>
            <a:srgbClr val="C5D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408075-17CD-45A8-B71A-B3DBAAAC7D65}"/>
              </a:ext>
            </a:extLst>
          </p:cNvPr>
          <p:cNvSpPr>
            <a:spLocks noGrp="1"/>
          </p:cNvSpPr>
          <p:nvPr/>
        </p:nvSpPr>
        <p:spPr>
          <a:xfrm>
            <a:off x="10927981" y="0"/>
            <a:ext cx="1247775" cy="6858000"/>
          </a:xfrm>
          <a:prstGeom prst="rect">
            <a:avLst/>
          </a:prstGeom>
          <a:solidFill>
            <a:srgbClr val="ECE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48CE84-C86C-45AD-A91C-DF8C04D1B201}"/>
              </a:ext>
            </a:extLst>
          </p:cNvPr>
          <p:cNvSpPr>
            <a:spLocks noGrp="1"/>
          </p:cNvSpPr>
          <p:nvPr/>
        </p:nvSpPr>
        <p:spPr>
          <a:xfrm>
            <a:off x="11180394" y="356146"/>
            <a:ext cx="7429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213587-3968-4C65-AAC3-355A75C109AA}"/>
              </a:ext>
            </a:extLst>
          </p:cNvPr>
          <p:cNvSpPr>
            <a:spLocks noGrp="1"/>
          </p:cNvSpPr>
          <p:nvPr/>
        </p:nvSpPr>
        <p:spPr>
          <a:xfrm>
            <a:off x="11180394" y="489496"/>
            <a:ext cx="5143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5101ED-0F98-4A24-A86D-6D0E9EAA57FD}"/>
              </a:ext>
            </a:extLst>
          </p:cNvPr>
          <p:cNvSpPr>
            <a:spLocks noGrp="1"/>
          </p:cNvSpPr>
          <p:nvPr/>
        </p:nvSpPr>
        <p:spPr>
          <a:xfrm>
            <a:off x="11180394" y="622846"/>
            <a:ext cx="26670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1E478C-1FE5-4E85-B2E5-3E45C8680BB0}"/>
              </a:ext>
            </a:extLst>
          </p:cNvPr>
          <p:cNvSpPr>
            <a:spLocks noGrp="1"/>
          </p:cNvSpPr>
          <p:nvPr/>
        </p:nvSpPr>
        <p:spPr>
          <a:xfrm>
            <a:off x="1066800" y="209550"/>
            <a:ext cx="8572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273138"/>
                </a:solidFill>
              </a:defRPr>
            </a:pPr>
            <a:r>
              <a:rPr lang="it-IT" sz="2850" dirty="0">
                <a:solidFill>
                  <a:srgbClr val="273138"/>
                </a:solidFill>
                <a:latin typeface="Arial Black" panose="020B0A04020102020204" pitchFamily="34" charset="0"/>
                <a:ea typeface="Arial"/>
                <a:cs typeface="Arial"/>
              </a:rPr>
              <a:t>Descrizione REQUISITI</a:t>
            </a:r>
            <a:r>
              <a:rPr sz="2850" dirty="0">
                <a:solidFill>
                  <a:srgbClr val="273138"/>
                </a:solidFill>
                <a:latin typeface="Arial Black" panose="020B0A04020102020204" pitchFamily="34" charset="0"/>
                <a:ea typeface="Arial"/>
                <a:cs typeface="Arial"/>
              </a:rPr>
              <a:t> </a:t>
            </a:r>
            <a:r>
              <a:rPr lang="it-IT" sz="2850" dirty="0">
                <a:solidFill>
                  <a:srgbClr val="273138"/>
                </a:solidFill>
                <a:latin typeface="Arial Black" panose="020B0A04020102020204" pitchFamily="34" charset="0"/>
                <a:ea typeface="Arial"/>
                <a:cs typeface="Arial"/>
              </a:rPr>
              <a:t>del </a:t>
            </a:r>
            <a:r>
              <a:rPr sz="2850" dirty="0">
                <a:solidFill>
                  <a:srgbClr val="273138"/>
                </a:solidFill>
                <a:latin typeface="Arial Black" panose="020B0A04020102020204" pitchFamily="34" charset="0"/>
                <a:ea typeface="Arial"/>
                <a:cs typeface="Arial"/>
              </a:rPr>
              <a:t>database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C12F22-6278-40BA-94D2-5F804C61E8E1}"/>
              </a:ext>
            </a:extLst>
          </p:cNvPr>
          <p:cNvSpPr>
            <a:spLocks noGrp="1"/>
          </p:cNvSpPr>
          <p:nvPr/>
        </p:nvSpPr>
        <p:spPr>
          <a:xfrm>
            <a:off x="1063040" y="47053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273138"/>
                </a:solidFill>
              </a:defRPr>
            </a:pPr>
            <a:r>
              <a:rPr sz="1400" b="1">
                <a:solidFill>
                  <a:srgbClr val="273138"/>
                </a:solidFill>
                <a:latin typeface="Arial"/>
                <a:ea typeface="Arial"/>
                <a:cs typeface="Arial"/>
              </a:rPr>
              <a:t>flusso operativo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54EE9B-4F51-4684-9119-D2EF9F695D3F}"/>
              </a:ext>
            </a:extLst>
          </p:cNvPr>
          <p:cNvSpPr>
            <a:spLocks noGrp="1"/>
          </p:cNvSpPr>
          <p:nvPr/>
        </p:nvSpPr>
        <p:spPr>
          <a:xfrm>
            <a:off x="1063040" y="5524500"/>
            <a:ext cx="1381125" cy="28575"/>
          </a:xfrm>
          <a:prstGeom prst="rect">
            <a:avLst/>
          </a:prstGeom>
          <a:solidFill>
            <a:srgbClr val="2C3035"/>
          </a:solidFill>
          <a:ln w="0">
            <a:solidFill>
              <a:srgbClr val="2C30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A83B5B-C255-461B-B268-C22353220A35}"/>
              </a:ext>
            </a:extLst>
          </p:cNvPr>
          <p:cNvSpPr>
            <a:spLocks noGrp="1"/>
          </p:cNvSpPr>
          <p:nvPr/>
        </p:nvSpPr>
        <p:spPr>
          <a:xfrm>
            <a:off x="1063040" y="5086350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125" b="1">
                <a:solidFill>
                  <a:srgbClr val="2C3035"/>
                </a:solidFill>
              </a:defRPr>
            </a:pPr>
            <a:r>
              <a:rPr sz="1400" b="1">
                <a:solidFill>
                  <a:srgbClr val="2C3035"/>
                </a:solidFill>
                <a:latin typeface="Arial"/>
                <a:ea typeface="Arial"/>
                <a:cs typeface="Arial"/>
              </a:rPr>
              <a:t>Operatore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4FFD49-3704-4A84-8F27-8D171FA3190B}"/>
              </a:ext>
            </a:extLst>
          </p:cNvPr>
          <p:cNvSpPr>
            <a:spLocks noGrp="1"/>
          </p:cNvSpPr>
          <p:nvPr/>
        </p:nvSpPr>
        <p:spPr>
          <a:xfrm>
            <a:off x="1063040" y="5305425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013" b="0">
                <a:solidFill>
                  <a:srgbClr val="273138"/>
                </a:solidFill>
              </a:defRPr>
            </a:pPr>
            <a:r>
              <a:rPr sz="1400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pubblica lotto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F4D52A3-BC8A-4E0E-915E-F53A43914882}"/>
              </a:ext>
            </a:extLst>
          </p:cNvPr>
          <p:cNvSpPr>
            <a:spLocks noGrp="1"/>
          </p:cNvSpPr>
          <p:nvPr/>
        </p:nvSpPr>
        <p:spPr>
          <a:xfrm>
            <a:off x="2520365" y="5391150"/>
            <a:ext cx="400050" cy="152400"/>
          </a:xfrm>
          <a:prstGeom prst="rightArrow">
            <a:avLst/>
          </a:prstGeom>
          <a:solidFill>
            <a:srgbClr val="2C3035"/>
          </a:solidFill>
          <a:ln w="0">
            <a:solidFill>
              <a:srgbClr val="2C30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7783AD-2A19-4408-8FC1-CFA88AFECA23}"/>
              </a:ext>
            </a:extLst>
          </p:cNvPr>
          <p:cNvSpPr>
            <a:spLocks noGrp="1"/>
          </p:cNvSpPr>
          <p:nvPr/>
        </p:nvSpPr>
        <p:spPr>
          <a:xfrm>
            <a:off x="2996615" y="5524500"/>
            <a:ext cx="1381125" cy="28575"/>
          </a:xfrm>
          <a:prstGeom prst="rect">
            <a:avLst/>
          </a:prstGeom>
          <a:solidFill>
            <a:srgbClr val="2C3035"/>
          </a:solidFill>
          <a:ln w="0">
            <a:solidFill>
              <a:srgbClr val="2C30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EBC0FC-5BA4-4334-9F88-01959D36E2BF}"/>
              </a:ext>
            </a:extLst>
          </p:cNvPr>
          <p:cNvSpPr>
            <a:spLocks noGrp="1"/>
          </p:cNvSpPr>
          <p:nvPr/>
        </p:nvSpPr>
        <p:spPr>
          <a:xfrm>
            <a:off x="2996615" y="5086350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125" b="1">
                <a:solidFill>
                  <a:srgbClr val="2C3035"/>
                </a:solidFill>
              </a:defRPr>
            </a:pPr>
            <a:r>
              <a:rPr sz="1400" b="1">
                <a:solidFill>
                  <a:srgbClr val="2C3035"/>
                </a:solidFill>
                <a:latin typeface="Arial"/>
                <a:ea typeface="Arial"/>
                <a:cs typeface="Arial"/>
              </a:rPr>
              <a:t>Studente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D4F290-C809-44E8-9C12-01E9F196508F}"/>
              </a:ext>
            </a:extLst>
          </p:cNvPr>
          <p:cNvSpPr>
            <a:spLocks noGrp="1"/>
          </p:cNvSpPr>
          <p:nvPr/>
        </p:nvSpPr>
        <p:spPr>
          <a:xfrm>
            <a:off x="2996615" y="5305425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013" b="0">
                <a:solidFill>
                  <a:srgbClr val="273138"/>
                </a:solidFill>
              </a:defRPr>
            </a:pPr>
            <a:r>
              <a:rPr sz="1400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prenota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E8A775F8-4E05-4ED5-9016-80D77C9C3BA7}"/>
              </a:ext>
            </a:extLst>
          </p:cNvPr>
          <p:cNvSpPr>
            <a:spLocks noGrp="1"/>
          </p:cNvSpPr>
          <p:nvPr/>
        </p:nvSpPr>
        <p:spPr>
          <a:xfrm>
            <a:off x="4453940" y="5391150"/>
            <a:ext cx="400050" cy="152400"/>
          </a:xfrm>
          <a:prstGeom prst="rightArrow">
            <a:avLst/>
          </a:prstGeom>
          <a:solidFill>
            <a:srgbClr val="2C3035"/>
          </a:solidFill>
          <a:ln w="0">
            <a:solidFill>
              <a:srgbClr val="2C30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C49C7D6-723B-496B-9A60-C430D72D11D8}"/>
              </a:ext>
            </a:extLst>
          </p:cNvPr>
          <p:cNvSpPr>
            <a:spLocks noGrp="1"/>
          </p:cNvSpPr>
          <p:nvPr/>
        </p:nvSpPr>
        <p:spPr>
          <a:xfrm>
            <a:off x="4930190" y="5524500"/>
            <a:ext cx="1381125" cy="28575"/>
          </a:xfrm>
          <a:prstGeom prst="rect">
            <a:avLst/>
          </a:prstGeom>
          <a:solidFill>
            <a:srgbClr val="2C3035"/>
          </a:solidFill>
          <a:ln w="0">
            <a:solidFill>
              <a:srgbClr val="2C30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E9CE3F-4100-4235-AC89-B9BFD9E0D6B6}"/>
              </a:ext>
            </a:extLst>
          </p:cNvPr>
          <p:cNvSpPr>
            <a:spLocks noGrp="1"/>
          </p:cNvSpPr>
          <p:nvPr/>
        </p:nvSpPr>
        <p:spPr>
          <a:xfrm>
            <a:off x="4930190" y="5086350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125" b="1">
                <a:solidFill>
                  <a:srgbClr val="2C3035"/>
                </a:solidFill>
              </a:defRPr>
            </a:pPr>
            <a:r>
              <a:rPr sz="1400" b="1">
                <a:solidFill>
                  <a:srgbClr val="2C3035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3AA67C-44F9-47EA-BC60-BEEAA81EC7AC}"/>
              </a:ext>
            </a:extLst>
          </p:cNvPr>
          <p:cNvSpPr>
            <a:spLocks noGrp="1"/>
          </p:cNvSpPr>
          <p:nvPr/>
        </p:nvSpPr>
        <p:spPr>
          <a:xfrm>
            <a:off x="4930190" y="5305424"/>
            <a:ext cx="1465371" cy="26193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013" b="0">
                <a:solidFill>
                  <a:srgbClr val="273138"/>
                </a:solidFill>
              </a:defRPr>
            </a:pP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aggiorna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quantita</a:t>
            </a:r>
            <a:endParaRPr sz="1400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21961AED-7A80-41C5-A78C-B8BFF35604CF}"/>
              </a:ext>
            </a:extLst>
          </p:cNvPr>
          <p:cNvSpPr>
            <a:spLocks noGrp="1"/>
          </p:cNvSpPr>
          <p:nvPr/>
        </p:nvSpPr>
        <p:spPr>
          <a:xfrm>
            <a:off x="6387515" y="5391150"/>
            <a:ext cx="400050" cy="152400"/>
          </a:xfrm>
          <a:prstGeom prst="rightArrow">
            <a:avLst/>
          </a:prstGeom>
          <a:solidFill>
            <a:srgbClr val="2C3035"/>
          </a:solidFill>
          <a:ln w="0">
            <a:solidFill>
              <a:srgbClr val="2C30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DDD8FBA-242A-476C-B565-4A8D8C4784D3}"/>
              </a:ext>
            </a:extLst>
          </p:cNvPr>
          <p:cNvSpPr>
            <a:spLocks noGrp="1"/>
          </p:cNvSpPr>
          <p:nvPr/>
        </p:nvSpPr>
        <p:spPr>
          <a:xfrm>
            <a:off x="6863765" y="5524500"/>
            <a:ext cx="1381125" cy="28575"/>
          </a:xfrm>
          <a:prstGeom prst="rect">
            <a:avLst/>
          </a:prstGeom>
          <a:solidFill>
            <a:srgbClr val="2C3035"/>
          </a:solidFill>
          <a:ln w="0">
            <a:solidFill>
              <a:srgbClr val="2C30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C2728F-D3D5-4C64-B1CB-FEAB925CA0F2}"/>
              </a:ext>
            </a:extLst>
          </p:cNvPr>
          <p:cNvSpPr>
            <a:spLocks noGrp="1"/>
          </p:cNvSpPr>
          <p:nvPr/>
        </p:nvSpPr>
        <p:spPr>
          <a:xfrm>
            <a:off x="6863765" y="5086350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125" b="1">
                <a:solidFill>
                  <a:srgbClr val="2C3035"/>
                </a:solidFill>
              </a:defRPr>
            </a:pPr>
            <a:r>
              <a:rPr sz="1400" b="1">
                <a:solidFill>
                  <a:srgbClr val="2C3035"/>
                </a:solidFill>
                <a:latin typeface="Arial"/>
                <a:ea typeface="Arial"/>
                <a:cs typeface="Arial"/>
              </a:rPr>
              <a:t>Operatore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6BECC3-DCB4-4FA5-98B8-918721980539}"/>
              </a:ext>
            </a:extLst>
          </p:cNvPr>
          <p:cNvSpPr>
            <a:spLocks noGrp="1"/>
          </p:cNvSpPr>
          <p:nvPr/>
        </p:nvSpPr>
        <p:spPr>
          <a:xfrm>
            <a:off x="6863765" y="5305425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013" b="0">
                <a:solidFill>
                  <a:srgbClr val="273138"/>
                </a:solidFill>
              </a:defRPr>
            </a:pPr>
            <a:r>
              <a:rPr sz="1400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conferma ritiro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108EDBE-0161-474D-84F4-08292F092A6F}"/>
              </a:ext>
            </a:extLst>
          </p:cNvPr>
          <p:cNvSpPr>
            <a:spLocks noGrp="1"/>
          </p:cNvSpPr>
          <p:nvPr/>
        </p:nvSpPr>
        <p:spPr>
          <a:xfrm>
            <a:off x="8321090" y="5391150"/>
            <a:ext cx="400050" cy="152400"/>
          </a:xfrm>
          <a:prstGeom prst="rightArrow">
            <a:avLst/>
          </a:prstGeom>
          <a:solidFill>
            <a:srgbClr val="2C3035"/>
          </a:solidFill>
          <a:ln w="0">
            <a:solidFill>
              <a:srgbClr val="2C30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0B8D118-82C5-4205-BB7B-634D7DCD24BF}"/>
              </a:ext>
            </a:extLst>
          </p:cNvPr>
          <p:cNvSpPr>
            <a:spLocks noGrp="1"/>
          </p:cNvSpPr>
          <p:nvPr/>
        </p:nvSpPr>
        <p:spPr>
          <a:xfrm>
            <a:off x="8797340" y="5524500"/>
            <a:ext cx="1381125" cy="28575"/>
          </a:xfrm>
          <a:prstGeom prst="rect">
            <a:avLst/>
          </a:prstGeom>
          <a:solidFill>
            <a:srgbClr val="2C3035"/>
          </a:solidFill>
          <a:ln w="0">
            <a:solidFill>
              <a:srgbClr val="2C30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54873F0-41C4-4CDC-A7C3-7EC24660075D}"/>
              </a:ext>
            </a:extLst>
          </p:cNvPr>
          <p:cNvSpPr>
            <a:spLocks noGrp="1"/>
          </p:cNvSpPr>
          <p:nvPr/>
        </p:nvSpPr>
        <p:spPr>
          <a:xfrm>
            <a:off x="8797340" y="5086350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125" b="1">
                <a:solidFill>
                  <a:srgbClr val="2C3035"/>
                </a:solidFill>
              </a:defRPr>
            </a:pPr>
            <a:r>
              <a:rPr sz="1400" b="1">
                <a:solidFill>
                  <a:srgbClr val="2C3035"/>
                </a:solidFill>
                <a:latin typeface="Arial"/>
                <a:ea typeface="Arial"/>
                <a:cs typeface="Arial"/>
              </a:rPr>
              <a:t>Studente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9365207-48DA-4628-A087-CAA658CC4F69}"/>
              </a:ext>
            </a:extLst>
          </p:cNvPr>
          <p:cNvSpPr>
            <a:spLocks noGrp="1"/>
          </p:cNvSpPr>
          <p:nvPr/>
        </p:nvSpPr>
        <p:spPr>
          <a:xfrm>
            <a:off x="8797340" y="5305425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013" b="0">
                <a:solidFill>
                  <a:srgbClr val="273138"/>
                </a:solidFill>
              </a:defRPr>
            </a:pPr>
            <a:r>
              <a:rPr sz="1400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recensisce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706C62A-3C44-42B9-B12A-5D97FFA9D8B2}"/>
              </a:ext>
            </a:extLst>
          </p:cNvPr>
          <p:cNvSpPr>
            <a:spLocks noGrp="1"/>
          </p:cNvSpPr>
          <p:nvPr/>
        </p:nvSpPr>
        <p:spPr>
          <a:xfrm>
            <a:off x="2377490" y="6343650"/>
            <a:ext cx="6429375" cy="304800"/>
          </a:xfrm>
          <a:prstGeom prst="rect">
            <a:avLst/>
          </a:prstGeom>
          <a:solidFill>
            <a:srgbClr val="E5EF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ctr">
              <a:defRPr sz="1200" b="1">
                <a:solidFill>
                  <a:srgbClr val="273138"/>
                </a:solidFill>
              </a:defRPr>
            </a:pPr>
            <a:r>
              <a:rPr sz="12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focus: </a:t>
            </a:r>
            <a:r>
              <a:rPr sz="12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tracciabilita</a:t>
            </a:r>
            <a:r>
              <a:rPr sz="12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del </a:t>
            </a:r>
            <a:r>
              <a:rPr sz="12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recupero</a:t>
            </a:r>
            <a:r>
              <a:rPr sz="12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, no</a:t>
            </a:r>
            <a:r>
              <a:rPr lang="it-IT" sz="12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n</a:t>
            </a:r>
            <a:r>
              <a:rPr sz="12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pagamenti</a:t>
            </a:r>
            <a:r>
              <a:rPr sz="12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o </a:t>
            </a:r>
            <a:r>
              <a:rPr sz="12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consegne</a:t>
            </a:r>
            <a:endParaRPr sz="120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550CE6-109E-8661-CB3B-239ECD4ED56E}"/>
              </a:ext>
            </a:extLst>
          </p:cNvPr>
          <p:cNvSpPr txBox="1"/>
          <p:nvPr/>
        </p:nvSpPr>
        <p:spPr>
          <a:xfrm>
            <a:off x="952500" y="622846"/>
            <a:ext cx="9991725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700" dirty="0"/>
              <a:t>Il progetto riguarda </a:t>
            </a:r>
            <a:r>
              <a:rPr lang="it-IT" sz="1700" dirty="0" err="1"/>
              <a:t>UniFood</a:t>
            </a:r>
            <a:r>
              <a:rPr lang="it-IT" sz="1700" dirty="0"/>
              <a:t> Rescue, cioè una piattaforma pensata per recuperare le porzioni rimaste nelle mense universitarie.</a:t>
            </a:r>
          </a:p>
          <a:p>
            <a:r>
              <a:rPr lang="it-IT" sz="1700" dirty="0"/>
              <a:t>Gli utenti condividono dati comuni come mail, nome, cognome e password. La differenza tra studente, operatore viene gestita in seguito.</a:t>
            </a:r>
          </a:p>
          <a:p>
            <a:r>
              <a:rPr lang="it-IT" sz="1700" dirty="0"/>
              <a:t>Lo studente può prenotare lotti e recensire una mensa, mentre l'operatore pubblica i lotti della mensa alla quale è assegnato.</a:t>
            </a:r>
          </a:p>
          <a:p>
            <a:r>
              <a:rPr lang="it-IT" sz="1700" dirty="0"/>
              <a:t>La mensa viene individuata dal nome e conserva le informazioni: indirizzo, orario di apertura e orario di chiusura. Una mensa può pubblicare più lotti.</a:t>
            </a:r>
          </a:p>
          <a:p>
            <a:r>
              <a:rPr lang="it-IT" sz="1700" dirty="0"/>
              <a:t>Il lotto rappresenta una disponibilità concreta di cibo. Per questo contiene codice, stato, prezzo simbolico, date, fascia oraria di ritiro e quantità iniziale/disponibile.</a:t>
            </a:r>
          </a:p>
          <a:p>
            <a:r>
              <a:rPr lang="it-IT" sz="1700" dirty="0"/>
              <a:t>Il prodotto alimentare rimane separato dal lotto, perché lo stesso prodotto può essere presente in lotti diversi. Individuato principalmente dalla PK nome fisso, possiede anche attributo categoria.</a:t>
            </a:r>
          </a:p>
          <a:p>
            <a:r>
              <a:rPr lang="it-IT" sz="1700" dirty="0"/>
              <a:t>Gli allergeni non sono messi come attributo dentro il prodotto perché più allergeni possono essere all’interno di un solo prodotto. Vista la relazione molti a molti, vengono collegati ai prodotti tramite la relazione CONTENUTO.</a:t>
            </a:r>
          </a:p>
        </p:txBody>
      </p:sp>
    </p:spTree>
    <p:extLst>
      <p:ext uri="{BB962C8B-B14F-4D97-AF65-F5344CB8AC3E}">
        <p14:creationId xmlns:p14="http://schemas.microsoft.com/office/powerpoint/2010/main" val="26211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80DAE2-6319-4772-82B0-6B3712372E7A}"/>
              </a:ext>
            </a:extLst>
          </p:cNvPr>
          <p:cNvSpPr>
            <a:spLocks noGrp="1"/>
          </p:cNvSpPr>
          <p:nvPr/>
        </p:nvSpPr>
        <p:spPr>
          <a:xfrm>
            <a:off x="10620375" y="0"/>
            <a:ext cx="1571625" cy="6858000"/>
          </a:xfrm>
          <a:prstGeom prst="rect">
            <a:avLst/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EBCFD7-D2A4-4D34-9D58-14FE7C36C263}"/>
              </a:ext>
            </a:extLst>
          </p:cNvPr>
          <p:cNvSpPr>
            <a:spLocks noGrp="1"/>
          </p:cNvSpPr>
          <p:nvPr/>
        </p:nvSpPr>
        <p:spPr>
          <a:xfrm>
            <a:off x="10763250" y="400050"/>
            <a:ext cx="7429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233069-1128-4166-B114-2721A5068F49}"/>
              </a:ext>
            </a:extLst>
          </p:cNvPr>
          <p:cNvSpPr>
            <a:spLocks noGrp="1"/>
          </p:cNvSpPr>
          <p:nvPr/>
        </p:nvSpPr>
        <p:spPr>
          <a:xfrm>
            <a:off x="10763250" y="533400"/>
            <a:ext cx="5143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45FF80-F79A-460B-9E2C-E8AB0086FDD6}"/>
              </a:ext>
            </a:extLst>
          </p:cNvPr>
          <p:cNvSpPr>
            <a:spLocks noGrp="1"/>
          </p:cNvSpPr>
          <p:nvPr/>
        </p:nvSpPr>
        <p:spPr>
          <a:xfrm>
            <a:off x="10763250" y="666750"/>
            <a:ext cx="26670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5F35BC-68E3-4157-86A4-25D965EA1E69}"/>
              </a:ext>
            </a:extLst>
          </p:cNvPr>
          <p:cNvSpPr>
            <a:spLocks noGrp="1"/>
          </p:cNvSpPr>
          <p:nvPr/>
        </p:nvSpPr>
        <p:spPr>
          <a:xfrm>
            <a:off x="2238375" y="209550"/>
            <a:ext cx="7715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Modello</a:t>
            </a:r>
            <a:r>
              <a:rPr sz="2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ER </a:t>
            </a:r>
            <a:r>
              <a:rPr sz="28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Generalizzato</a:t>
            </a:r>
            <a:endParaRPr sz="28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84605" y="914400"/>
            <a:ext cx="674659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309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5DED638-16C5-4B9B-90AC-176D5E03B2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D9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E2B8B4-926E-48FC-AF2E-ECA22C2A5F68}"/>
              </a:ext>
            </a:extLst>
          </p:cNvPr>
          <p:cNvSpPr>
            <a:spLocks noGrp="1"/>
          </p:cNvSpPr>
          <p:nvPr/>
        </p:nvSpPr>
        <p:spPr>
          <a:xfrm>
            <a:off x="419100" y="0"/>
            <a:ext cx="76200" cy="6858000"/>
          </a:xfrm>
          <a:prstGeom prst="rect">
            <a:avLst/>
          </a:prstGeom>
          <a:solidFill>
            <a:srgbClr val="C5D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F0FA87-56F7-420C-A9D1-C96D87109614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1219199" cy="6858000"/>
          </a:xfrm>
          <a:prstGeom prst="rect">
            <a:avLst/>
          </a:prstGeom>
          <a:solidFill>
            <a:srgbClr val="ECE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5DB6D6-2C21-4786-B703-943E161D4770}"/>
              </a:ext>
            </a:extLst>
          </p:cNvPr>
          <p:cNvSpPr>
            <a:spLocks noGrp="1"/>
          </p:cNvSpPr>
          <p:nvPr/>
        </p:nvSpPr>
        <p:spPr>
          <a:xfrm>
            <a:off x="11218863" y="323850"/>
            <a:ext cx="7429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3CBAA6-7CB3-44D4-860C-E4FC2F18A62C}"/>
              </a:ext>
            </a:extLst>
          </p:cNvPr>
          <p:cNvSpPr>
            <a:spLocks noGrp="1"/>
          </p:cNvSpPr>
          <p:nvPr/>
        </p:nvSpPr>
        <p:spPr>
          <a:xfrm>
            <a:off x="11218863" y="457200"/>
            <a:ext cx="5143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9FD7E6-A7EF-49F1-AC2F-0A4B68CBAAF5}"/>
              </a:ext>
            </a:extLst>
          </p:cNvPr>
          <p:cNvSpPr>
            <a:spLocks noGrp="1"/>
          </p:cNvSpPr>
          <p:nvPr/>
        </p:nvSpPr>
        <p:spPr>
          <a:xfrm>
            <a:off x="11218863" y="590550"/>
            <a:ext cx="26670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36CB50-C4D4-4BC5-AB93-1E8C428F7409}"/>
              </a:ext>
            </a:extLst>
          </p:cNvPr>
          <p:cNvSpPr>
            <a:spLocks noGrp="1"/>
          </p:cNvSpPr>
          <p:nvPr/>
        </p:nvSpPr>
        <p:spPr>
          <a:xfrm>
            <a:off x="1066800" y="209550"/>
            <a:ext cx="8572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273138"/>
                </a:solidFill>
              </a:defRPr>
            </a:pPr>
            <a:r>
              <a:rPr lang="it-IT"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GENERALIZZAZIONE: Problema</a:t>
            </a:r>
            <a:endParaRPr sz="285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FCEEA4-0666-45F7-B1F7-6B2A7F64C278}"/>
              </a:ext>
            </a:extLst>
          </p:cNvPr>
          <p:cNvSpPr>
            <a:spLocks noGrp="1"/>
          </p:cNvSpPr>
          <p:nvPr/>
        </p:nvSpPr>
        <p:spPr>
          <a:xfrm>
            <a:off x="1863725" y="2003921"/>
            <a:ext cx="2524125" cy="552450"/>
          </a:xfrm>
          <a:prstGeom prst="roundRect">
            <a:avLst>
              <a:gd name="adj" fmla="val 13793"/>
            </a:avLst>
          </a:prstGeom>
          <a:solidFill>
            <a:srgbClr val="00B0F0"/>
          </a:solidFill>
          <a:ln w="0">
            <a:solidFill>
              <a:srgbClr val="315F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6B4158-8D75-4BF0-8259-A26326E455C9}"/>
              </a:ext>
            </a:extLst>
          </p:cNvPr>
          <p:cNvSpPr>
            <a:spLocks noGrp="1"/>
          </p:cNvSpPr>
          <p:nvPr/>
        </p:nvSpPr>
        <p:spPr>
          <a:xfrm>
            <a:off x="2082800" y="2089646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UTENTE</a:t>
            </a:r>
          </a:p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specializzato</a:t>
            </a: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per </a:t>
            </a:r>
            <a:r>
              <a:rPr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ruolo</a:t>
            </a:r>
            <a:endParaRPr sz="1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FD8C20-8FDF-45E1-B648-15CC6DE53337}"/>
              </a:ext>
            </a:extLst>
          </p:cNvPr>
          <p:cNvSpPr>
            <a:spLocks noGrp="1"/>
          </p:cNvSpPr>
          <p:nvPr/>
        </p:nvSpPr>
        <p:spPr>
          <a:xfrm>
            <a:off x="1906587" y="2556371"/>
            <a:ext cx="2381250" cy="1000125"/>
          </a:xfrm>
          <a:prstGeom prst="rect">
            <a:avLst/>
          </a:prstGeom>
          <a:solidFill>
            <a:srgbClr val="F4FBFB"/>
          </a:solidFill>
          <a:ln w="9525">
            <a:solidFill>
              <a:srgbClr val="D0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9BD91D-2FD1-49E2-937F-0917412B10C9}"/>
              </a:ext>
            </a:extLst>
          </p:cNvPr>
          <p:cNvSpPr>
            <a:spLocks noGrp="1"/>
          </p:cNvSpPr>
          <p:nvPr/>
        </p:nvSpPr>
        <p:spPr>
          <a:xfrm>
            <a:off x="1911350" y="3566021"/>
            <a:ext cx="2381250" cy="1000125"/>
          </a:xfrm>
          <a:prstGeom prst="rect">
            <a:avLst/>
          </a:prstGeom>
          <a:solidFill>
            <a:srgbClr val="F4FBFB"/>
          </a:solidFill>
          <a:ln w="9525">
            <a:solidFill>
              <a:srgbClr val="D0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CB3D18-F0BD-493B-9AC1-3EDB105EF5EF}"/>
              </a:ext>
            </a:extLst>
          </p:cNvPr>
          <p:cNvSpPr>
            <a:spLocks noGrp="1"/>
          </p:cNvSpPr>
          <p:nvPr/>
        </p:nvSpPr>
        <p:spPr>
          <a:xfrm>
            <a:off x="4257675" y="4566146"/>
            <a:ext cx="2381250" cy="1000125"/>
          </a:xfrm>
          <a:prstGeom prst="rect">
            <a:avLst/>
          </a:prstGeom>
          <a:solidFill>
            <a:srgbClr val="F4FBFB"/>
          </a:solidFill>
          <a:ln w="9525">
            <a:solidFill>
              <a:srgbClr val="D0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B2B147-9965-4744-B16A-615E9A661067}"/>
              </a:ext>
            </a:extLst>
          </p:cNvPr>
          <p:cNvSpPr>
            <a:spLocks noGrp="1"/>
          </p:cNvSpPr>
          <p:nvPr/>
        </p:nvSpPr>
        <p:spPr>
          <a:xfrm>
            <a:off x="2078037" y="2699246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050" b="1">
                <a:solidFill>
                  <a:srgbClr val="315F73"/>
                </a:solidFill>
              </a:defRPr>
            </a:pPr>
            <a:r>
              <a:rPr sz="1100" b="1" dirty="0">
                <a:solidFill>
                  <a:srgbClr val="315F73"/>
                </a:solidFill>
                <a:latin typeface="Arial"/>
                <a:ea typeface="Arial"/>
                <a:cs typeface="Arial"/>
              </a:rPr>
              <a:t>Dati </a:t>
            </a:r>
            <a:r>
              <a:rPr sz="1100" b="1" dirty="0" err="1">
                <a:solidFill>
                  <a:srgbClr val="315F73"/>
                </a:solidFill>
                <a:latin typeface="Arial"/>
                <a:ea typeface="Arial"/>
                <a:cs typeface="Arial"/>
              </a:rPr>
              <a:t>comuni</a:t>
            </a:r>
            <a:r>
              <a:rPr lang="it-IT" sz="1100" b="1" dirty="0">
                <a:solidFill>
                  <a:srgbClr val="315F73"/>
                </a:solidFill>
                <a:latin typeface="Arial"/>
                <a:ea typeface="Arial"/>
                <a:cs typeface="Arial"/>
              </a:rPr>
              <a:t> NON RIPETUTI</a:t>
            </a:r>
            <a:endParaRPr sz="1100" b="1" dirty="0">
              <a:solidFill>
                <a:srgbClr val="315F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204562-A68C-44B3-B302-84A4F1FD0BC6}"/>
              </a:ext>
            </a:extLst>
          </p:cNvPr>
          <p:cNvSpPr>
            <a:spLocks noGrp="1"/>
          </p:cNvSpPr>
          <p:nvPr/>
        </p:nvSpPr>
        <p:spPr>
          <a:xfrm>
            <a:off x="2047080" y="2946485"/>
            <a:ext cx="2100263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900" b="0">
                <a:solidFill>
                  <a:srgbClr val="273138"/>
                </a:solidFill>
              </a:defRPr>
            </a:pP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mail,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nome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,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cognome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, password: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servono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sempre per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autenticazione</a:t>
            </a:r>
            <a:endParaRPr sz="1050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71D05C-F54A-4138-93A2-FD7D7D0BE6F2}"/>
              </a:ext>
            </a:extLst>
          </p:cNvPr>
          <p:cNvSpPr>
            <a:spLocks noGrp="1"/>
          </p:cNvSpPr>
          <p:nvPr/>
        </p:nvSpPr>
        <p:spPr>
          <a:xfrm>
            <a:off x="2066925" y="3708896"/>
            <a:ext cx="2381250" cy="13824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050" b="1">
                <a:solidFill>
                  <a:srgbClr val="B85C38"/>
                </a:solidFill>
              </a:defRPr>
            </a:pPr>
            <a:r>
              <a:rPr sz="1100" b="1" dirty="0">
                <a:solidFill>
                  <a:srgbClr val="B85C38"/>
                </a:solidFill>
                <a:latin typeface="Arial"/>
                <a:ea typeface="Arial"/>
                <a:cs typeface="Arial"/>
              </a:rPr>
              <a:t>Dati </a:t>
            </a:r>
            <a:r>
              <a:rPr sz="1100" b="1" dirty="0" err="1">
                <a:solidFill>
                  <a:srgbClr val="B85C38"/>
                </a:solidFill>
                <a:latin typeface="Arial"/>
                <a:ea typeface="Arial"/>
                <a:cs typeface="Arial"/>
              </a:rPr>
              <a:t>specifici</a:t>
            </a:r>
            <a:r>
              <a:rPr lang="it-IT" sz="1100" b="1" dirty="0">
                <a:solidFill>
                  <a:srgbClr val="B85C38"/>
                </a:solidFill>
                <a:latin typeface="Arial"/>
                <a:ea typeface="Arial"/>
                <a:cs typeface="Arial"/>
              </a:rPr>
              <a:t> POTENZIALI NULL</a:t>
            </a:r>
            <a:endParaRPr sz="1100" b="1" dirty="0">
              <a:solidFill>
                <a:srgbClr val="B85C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A8A83A-C646-4F91-9692-9756B8B9A4C5}"/>
              </a:ext>
            </a:extLst>
          </p:cNvPr>
          <p:cNvSpPr>
            <a:spLocks noGrp="1"/>
          </p:cNvSpPr>
          <p:nvPr/>
        </p:nvSpPr>
        <p:spPr>
          <a:xfrm>
            <a:off x="2086315" y="3999537"/>
            <a:ext cx="1952625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900" b="0">
                <a:solidFill>
                  <a:srgbClr val="273138"/>
                </a:solidFill>
              </a:defRPr>
            </a:pP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matricola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per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studenti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,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id_operatore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per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operatori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8A37BD-8CCC-4B7C-B8EF-382BD79D1C60}"/>
              </a:ext>
            </a:extLst>
          </p:cNvPr>
          <p:cNvSpPr>
            <a:spLocks noGrp="1"/>
          </p:cNvSpPr>
          <p:nvPr/>
        </p:nvSpPr>
        <p:spPr>
          <a:xfrm>
            <a:off x="4287837" y="4623555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050" b="1">
                <a:solidFill>
                  <a:srgbClr val="315F73"/>
                </a:solidFill>
              </a:defRPr>
            </a:pPr>
            <a:r>
              <a:rPr sz="1100" b="1" dirty="0" err="1">
                <a:solidFill>
                  <a:srgbClr val="315F73"/>
                </a:solidFill>
                <a:latin typeface="Arial"/>
                <a:ea typeface="Arial"/>
                <a:cs typeface="Arial"/>
              </a:rPr>
              <a:t>Scelta</a:t>
            </a:r>
            <a:r>
              <a:rPr sz="1100" b="1" dirty="0">
                <a:solidFill>
                  <a:srgbClr val="315F73"/>
                </a:solidFill>
                <a:latin typeface="Arial"/>
                <a:ea typeface="Arial"/>
                <a:cs typeface="Arial"/>
              </a:rPr>
              <a:t> da fare</a:t>
            </a:r>
            <a:r>
              <a:rPr lang="it-IT" sz="1100" b="1" dirty="0">
                <a:solidFill>
                  <a:srgbClr val="315F73"/>
                </a:solidFill>
                <a:latin typeface="Arial"/>
                <a:ea typeface="Arial"/>
                <a:cs typeface="Arial"/>
              </a:rPr>
              <a:t>                    ?</a:t>
            </a:r>
            <a:endParaRPr sz="1100" b="1" dirty="0">
              <a:solidFill>
                <a:srgbClr val="315F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1C454B-95B7-40D6-B58D-457B64B0444F}"/>
              </a:ext>
            </a:extLst>
          </p:cNvPr>
          <p:cNvSpPr>
            <a:spLocks noGrp="1"/>
          </p:cNvSpPr>
          <p:nvPr/>
        </p:nvSpPr>
        <p:spPr>
          <a:xfrm>
            <a:off x="4298950" y="4942512"/>
            <a:ext cx="1952625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900" b="0">
                <a:solidFill>
                  <a:srgbClr val="273138"/>
                </a:solidFill>
              </a:defRPr>
            </a:pP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entita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separate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oppure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UTENTE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unico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con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discriminante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ruolo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8A4C72-FBC5-4CCC-A4A0-559D01F50A6F}"/>
              </a:ext>
            </a:extLst>
          </p:cNvPr>
          <p:cNvSpPr>
            <a:spLocks noGrp="1"/>
          </p:cNvSpPr>
          <p:nvPr/>
        </p:nvSpPr>
        <p:spPr>
          <a:xfrm>
            <a:off x="2607469" y="5623680"/>
            <a:ext cx="5491162" cy="1234319"/>
          </a:xfrm>
          <a:prstGeom prst="rect">
            <a:avLst/>
          </a:prstGeom>
          <a:solidFill>
            <a:srgbClr val="E7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r>
              <a:rPr lang="it-IT" sz="1700" dirty="0"/>
              <a:t>La gerarchia ,per entrambi, è totale </a:t>
            </a:r>
            <a:r>
              <a:rPr lang="it-IT" sz="1700" dirty="0" err="1"/>
              <a:t>perchè</a:t>
            </a:r>
            <a:r>
              <a:rPr lang="it-IT" sz="1700" dirty="0"/>
              <a:t> ogni account può appartenere a un solo ruolo per volta, ed è disgiunta </a:t>
            </a:r>
            <a:r>
              <a:rPr lang="it-IT" sz="1700" dirty="0" err="1"/>
              <a:t>perchè</a:t>
            </a:r>
            <a:r>
              <a:rPr lang="it-IT" sz="1700" dirty="0"/>
              <a:t> lo stesso soggetto non deve essere contemporaneamente studente e operatore mensa.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2DC1BE-6372-C728-17D4-A7D40DE2E6AE}"/>
              </a:ext>
            </a:extLst>
          </p:cNvPr>
          <p:cNvSpPr txBox="1"/>
          <p:nvPr/>
        </p:nvSpPr>
        <p:spPr>
          <a:xfrm>
            <a:off x="1209675" y="943104"/>
            <a:ext cx="6096000" cy="102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lang="it-IT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Il modello ER generalizzato parte da un entità UTENTE, specializzata in STUDENTE, OPERATORE_MENSA.</a:t>
            </a: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lang="it-IT" dirty="0"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Le alternative sono 2:</a:t>
            </a:r>
            <a:endParaRPr lang="it-IT" sz="1800" dirty="0">
              <a:effectLst/>
              <a:latin typeface="Aptos" panose="020B00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F067B89-19E5-05E2-5485-BC8663B20FB2}"/>
              </a:ext>
            </a:extLst>
          </p:cNvPr>
          <p:cNvSpPr>
            <a:spLocks noGrp="1"/>
          </p:cNvSpPr>
          <p:nvPr/>
        </p:nvSpPr>
        <p:spPr>
          <a:xfrm>
            <a:off x="6602412" y="2003921"/>
            <a:ext cx="2524125" cy="552450"/>
          </a:xfrm>
          <a:prstGeom prst="roundRect">
            <a:avLst>
              <a:gd name="adj" fmla="val 13793"/>
            </a:avLst>
          </a:prstGeom>
          <a:solidFill>
            <a:srgbClr val="00B0F0"/>
          </a:solidFill>
          <a:ln w="0">
            <a:solidFill>
              <a:srgbClr val="315F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0EB153-33E8-95AE-93F9-5BC18AD46298}"/>
              </a:ext>
            </a:extLst>
          </p:cNvPr>
          <p:cNvSpPr>
            <a:spLocks noGrp="1"/>
          </p:cNvSpPr>
          <p:nvPr/>
        </p:nvSpPr>
        <p:spPr>
          <a:xfrm>
            <a:off x="6654798" y="2075359"/>
            <a:ext cx="2371726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lang="it-IT" sz="10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STUDENTE e OPERATORE_MENSA separati</a:t>
            </a:r>
            <a:endParaRPr sz="10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DFE8262-A5D3-D24E-39DE-74BAC3F1FDE9}"/>
              </a:ext>
            </a:extLst>
          </p:cNvPr>
          <p:cNvSpPr>
            <a:spLocks noGrp="1"/>
          </p:cNvSpPr>
          <p:nvPr/>
        </p:nvSpPr>
        <p:spPr>
          <a:xfrm>
            <a:off x="6645274" y="2556371"/>
            <a:ext cx="2381250" cy="1000125"/>
          </a:xfrm>
          <a:prstGeom prst="rect">
            <a:avLst/>
          </a:prstGeom>
          <a:solidFill>
            <a:srgbClr val="F4FBFB"/>
          </a:solidFill>
          <a:ln w="9525">
            <a:solidFill>
              <a:srgbClr val="D0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926C136-BC86-32EB-DEF7-1FE630CD982B}"/>
              </a:ext>
            </a:extLst>
          </p:cNvPr>
          <p:cNvSpPr>
            <a:spLocks noGrp="1"/>
          </p:cNvSpPr>
          <p:nvPr/>
        </p:nvSpPr>
        <p:spPr>
          <a:xfrm>
            <a:off x="6650037" y="3566021"/>
            <a:ext cx="2381250" cy="1000125"/>
          </a:xfrm>
          <a:prstGeom prst="rect">
            <a:avLst/>
          </a:prstGeom>
          <a:solidFill>
            <a:srgbClr val="F4FBFB"/>
          </a:solidFill>
          <a:ln w="9525">
            <a:solidFill>
              <a:srgbClr val="D0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7636A50-7F17-55C8-5DB8-E6C8EA95E7C3}"/>
              </a:ext>
            </a:extLst>
          </p:cNvPr>
          <p:cNvSpPr>
            <a:spLocks noGrp="1"/>
          </p:cNvSpPr>
          <p:nvPr/>
        </p:nvSpPr>
        <p:spPr>
          <a:xfrm>
            <a:off x="6816724" y="2699246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050" b="1">
                <a:solidFill>
                  <a:srgbClr val="315F73"/>
                </a:solidFill>
              </a:defRPr>
            </a:pPr>
            <a:r>
              <a:rPr lang="it-IT" sz="1100" b="1" dirty="0">
                <a:solidFill>
                  <a:srgbClr val="315F73"/>
                </a:solidFill>
                <a:latin typeface="Arial"/>
                <a:ea typeface="Arial"/>
                <a:cs typeface="Arial"/>
              </a:rPr>
              <a:t>RIPETIZIONE </a:t>
            </a:r>
            <a:r>
              <a:rPr sz="1100" b="1" dirty="0">
                <a:solidFill>
                  <a:srgbClr val="315F73"/>
                </a:solidFill>
                <a:latin typeface="Arial"/>
                <a:ea typeface="Arial"/>
                <a:cs typeface="Arial"/>
              </a:rPr>
              <a:t>Dati </a:t>
            </a:r>
            <a:r>
              <a:rPr sz="1100" b="1" dirty="0" err="1">
                <a:solidFill>
                  <a:srgbClr val="315F73"/>
                </a:solidFill>
                <a:latin typeface="Arial"/>
                <a:ea typeface="Arial"/>
                <a:cs typeface="Arial"/>
              </a:rPr>
              <a:t>comuni</a:t>
            </a:r>
            <a:endParaRPr sz="1100" b="1" dirty="0">
              <a:solidFill>
                <a:srgbClr val="315F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6BE6E74-78C0-2F8F-6466-E58132633CD4}"/>
              </a:ext>
            </a:extLst>
          </p:cNvPr>
          <p:cNvSpPr>
            <a:spLocks noGrp="1"/>
          </p:cNvSpPr>
          <p:nvPr/>
        </p:nvSpPr>
        <p:spPr>
          <a:xfrm>
            <a:off x="6785767" y="2965946"/>
            <a:ext cx="2240757" cy="44291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900" b="0">
                <a:solidFill>
                  <a:srgbClr val="273138"/>
                </a:solidFill>
              </a:defRPr>
            </a:pP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mail,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nome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,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cognome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, password: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servono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sempre per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autenticazione</a:t>
            </a:r>
            <a:endParaRPr sz="1050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6463414-2C4F-88C6-FC72-16070CD5A7C7}"/>
              </a:ext>
            </a:extLst>
          </p:cNvPr>
          <p:cNvSpPr>
            <a:spLocks noGrp="1"/>
          </p:cNvSpPr>
          <p:nvPr/>
        </p:nvSpPr>
        <p:spPr>
          <a:xfrm>
            <a:off x="6821486" y="3708896"/>
            <a:ext cx="2064543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050" b="1">
                <a:solidFill>
                  <a:srgbClr val="B85C38"/>
                </a:solidFill>
              </a:defRPr>
            </a:pPr>
            <a:r>
              <a:rPr sz="1100" b="1" dirty="0">
                <a:solidFill>
                  <a:srgbClr val="B85C38"/>
                </a:solidFill>
                <a:latin typeface="Arial"/>
                <a:ea typeface="Arial"/>
                <a:cs typeface="Arial"/>
              </a:rPr>
              <a:t>Dati </a:t>
            </a:r>
            <a:r>
              <a:rPr sz="1100" b="1" dirty="0" err="1">
                <a:solidFill>
                  <a:srgbClr val="B85C38"/>
                </a:solidFill>
                <a:latin typeface="Arial"/>
                <a:ea typeface="Arial"/>
                <a:cs typeface="Arial"/>
              </a:rPr>
              <a:t>specifici</a:t>
            </a:r>
            <a:r>
              <a:rPr lang="it-IT" sz="1100" b="1" dirty="0">
                <a:solidFill>
                  <a:srgbClr val="B85C38"/>
                </a:solidFill>
                <a:latin typeface="Arial"/>
                <a:ea typeface="Arial"/>
                <a:cs typeface="Arial"/>
              </a:rPr>
              <a:t> SEMPRE USATI</a:t>
            </a:r>
            <a:endParaRPr sz="1100" b="1" dirty="0">
              <a:solidFill>
                <a:srgbClr val="B85C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6393590-AC0E-95E7-4190-14A9EC7665DE}"/>
              </a:ext>
            </a:extLst>
          </p:cNvPr>
          <p:cNvSpPr>
            <a:spLocks noGrp="1"/>
          </p:cNvSpPr>
          <p:nvPr/>
        </p:nvSpPr>
        <p:spPr>
          <a:xfrm>
            <a:off x="6859585" y="3961156"/>
            <a:ext cx="1952625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900" b="0">
                <a:solidFill>
                  <a:srgbClr val="273138"/>
                </a:solidFill>
              </a:defRPr>
            </a:pP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matricola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per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studenti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,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id_operatore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per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operatori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301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6FEABC-3C26-4963-8AB3-3C6CEC39118D}"/>
              </a:ext>
            </a:extLst>
          </p:cNvPr>
          <p:cNvSpPr>
            <a:spLocks noGrp="1"/>
          </p:cNvSpPr>
          <p:nvPr/>
        </p:nvSpPr>
        <p:spPr>
          <a:xfrm>
            <a:off x="10620375" y="0"/>
            <a:ext cx="1571625" cy="6858000"/>
          </a:xfrm>
          <a:prstGeom prst="rect">
            <a:avLst/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23104A-4FC9-44D2-B742-6F0D8436763D}"/>
              </a:ext>
            </a:extLst>
          </p:cNvPr>
          <p:cNvSpPr>
            <a:spLocks noGrp="1"/>
          </p:cNvSpPr>
          <p:nvPr/>
        </p:nvSpPr>
        <p:spPr>
          <a:xfrm>
            <a:off x="342900" y="933450"/>
            <a:ext cx="257175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461F5B-8E2F-4322-B886-983E1AE580E8}"/>
              </a:ext>
            </a:extLst>
          </p:cNvPr>
          <p:cNvSpPr>
            <a:spLocks noGrp="1"/>
          </p:cNvSpPr>
          <p:nvPr/>
        </p:nvSpPr>
        <p:spPr>
          <a:xfrm>
            <a:off x="10763250" y="400050"/>
            <a:ext cx="7429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56D28C-9CF9-45D4-A055-DF201B9FE9B2}"/>
              </a:ext>
            </a:extLst>
          </p:cNvPr>
          <p:cNvSpPr>
            <a:spLocks noGrp="1"/>
          </p:cNvSpPr>
          <p:nvPr/>
        </p:nvSpPr>
        <p:spPr>
          <a:xfrm>
            <a:off x="10763250" y="533400"/>
            <a:ext cx="5143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B318B4-2AE8-471D-8F46-54D2888168C6}"/>
              </a:ext>
            </a:extLst>
          </p:cNvPr>
          <p:cNvSpPr>
            <a:spLocks noGrp="1"/>
          </p:cNvSpPr>
          <p:nvPr/>
        </p:nvSpPr>
        <p:spPr>
          <a:xfrm>
            <a:off x="10763250" y="666750"/>
            <a:ext cx="26670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31B77F-013C-45C9-948A-037E54A26309}"/>
              </a:ext>
            </a:extLst>
          </p:cNvPr>
          <p:cNvSpPr>
            <a:spLocks noGrp="1"/>
          </p:cNvSpPr>
          <p:nvPr/>
        </p:nvSpPr>
        <p:spPr>
          <a:xfrm>
            <a:off x="342900" y="2095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Analisi gerarchia UTENTE: accorpamento al padre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C56E67-6D4B-465D-B755-40D9D4D1BF4C}"/>
              </a:ext>
            </a:extLst>
          </p:cNvPr>
          <p:cNvSpPr>
            <a:spLocks noGrp="1"/>
          </p:cNvSpPr>
          <p:nvPr/>
        </p:nvSpPr>
        <p:spPr>
          <a:xfrm>
            <a:off x="419100" y="1276350"/>
            <a:ext cx="4716590" cy="21221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questa</a:t>
            </a:r>
            <a:r>
              <a:rPr lang="it-IT" sz="16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Alternativa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le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entit</a:t>
            </a:r>
            <a:r>
              <a:rPr lang="it-IT"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à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figlie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vengono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eliminate</a:t>
            </a:r>
            <a:r>
              <a:rPr lang="it-IT"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Gli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attributi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specifici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vengono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traslati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in UTENTE e il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valore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di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ruolo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stabilisce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se </a:t>
            </a:r>
            <a:r>
              <a:rPr lang="it-IT" sz="16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l’utente è uno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studente</a:t>
            </a:r>
            <a:r>
              <a:rPr lang="it-IT" sz="16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o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operatore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men</a:t>
            </a:r>
            <a:r>
              <a:rPr lang="it-IT"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sa.</a:t>
            </a:r>
            <a:endParaRPr sz="16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72151" y="781050"/>
            <a:ext cx="4877644" cy="40386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8C2904A-5E7B-4851-8CF1-74972A59F008}"/>
              </a:ext>
            </a:extLst>
          </p:cNvPr>
          <p:cNvSpPr>
            <a:spLocks noGrp="1"/>
          </p:cNvSpPr>
          <p:nvPr/>
        </p:nvSpPr>
        <p:spPr>
          <a:xfrm>
            <a:off x="419100" y="4953000"/>
            <a:ext cx="4762500" cy="1181100"/>
          </a:xfrm>
          <a:prstGeom prst="rect">
            <a:avLst/>
          </a:prstGeom>
          <a:solidFill>
            <a:srgbClr val="002060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6E635B-15A2-473D-B358-672C2F6A898B}"/>
              </a:ext>
            </a:extLst>
          </p:cNvPr>
          <p:cNvSpPr>
            <a:spLocks noGrp="1"/>
          </p:cNvSpPr>
          <p:nvPr/>
        </p:nvSpPr>
        <p:spPr>
          <a:xfrm>
            <a:off x="6838950" y="4953000"/>
            <a:ext cx="4762500" cy="1181100"/>
          </a:xfrm>
          <a:prstGeom prst="rect">
            <a:avLst/>
          </a:prstGeom>
          <a:solidFill>
            <a:srgbClr val="3B3338"/>
          </a:solidFill>
          <a:ln w="19050">
            <a:solidFill>
              <a:srgbClr val="7B4E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B8BAD7-E167-43A6-A6FD-8E41F1EF9CA9}"/>
              </a:ext>
            </a:extLst>
          </p:cNvPr>
          <p:cNvSpPr>
            <a:spLocks noGrp="1"/>
          </p:cNvSpPr>
          <p:nvPr/>
        </p:nvSpPr>
        <p:spPr>
          <a:xfrm>
            <a:off x="647700" y="5162550"/>
            <a:ext cx="552450" cy="38100"/>
          </a:xfrm>
          <a:prstGeom prst="rect">
            <a:avLst/>
          </a:prstGeom>
          <a:solidFill>
            <a:srgbClr val="00B0F0"/>
          </a:solidFill>
          <a:ln w="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040B27-9FEA-4038-B329-237E8E2A0F71}"/>
              </a:ext>
            </a:extLst>
          </p:cNvPr>
          <p:cNvSpPr>
            <a:spLocks noGrp="1"/>
          </p:cNvSpPr>
          <p:nvPr/>
        </p:nvSpPr>
        <p:spPr>
          <a:xfrm>
            <a:off x="7067550" y="5162550"/>
            <a:ext cx="552450" cy="38100"/>
          </a:xfrm>
          <a:prstGeom prst="rect">
            <a:avLst/>
          </a:prstGeom>
          <a:solidFill>
            <a:srgbClr val="7B4E58"/>
          </a:solidFill>
          <a:ln w="0">
            <a:solidFill>
              <a:srgbClr val="7B4E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8D00C0-90B3-4CEB-ACFC-39E0435E0975}"/>
              </a:ext>
            </a:extLst>
          </p:cNvPr>
          <p:cNvSpPr>
            <a:spLocks noGrp="1"/>
          </p:cNvSpPr>
          <p:nvPr/>
        </p:nvSpPr>
        <p:spPr>
          <a:xfrm>
            <a:off x="1352550" y="50292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EAF0DF"/>
                </a:solidFill>
              </a:defRPr>
            </a:pPr>
            <a:r>
              <a:rPr sz="1350" b="1">
                <a:solidFill>
                  <a:srgbClr val="EAF0DF"/>
                </a:solidFill>
                <a:latin typeface="Arial"/>
                <a:ea typeface="Arial"/>
                <a:cs typeface="Arial"/>
              </a:rPr>
              <a:t>Vantaggi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F1AE7A-7AAC-4935-935A-DE3B143C2625}"/>
              </a:ext>
            </a:extLst>
          </p:cNvPr>
          <p:cNvSpPr>
            <a:spLocks noGrp="1"/>
          </p:cNvSpPr>
          <p:nvPr/>
        </p:nvSpPr>
        <p:spPr>
          <a:xfrm>
            <a:off x="7772400" y="50292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2E2E5"/>
                </a:solidFill>
              </a:defRPr>
            </a:pPr>
            <a:r>
              <a:rPr sz="1350" b="1">
                <a:solidFill>
                  <a:srgbClr val="F2E2E5"/>
                </a:solidFill>
                <a:latin typeface="Arial"/>
                <a:ea typeface="Arial"/>
                <a:cs typeface="Arial"/>
              </a:rPr>
              <a:t>Svantaggi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C14888-942B-4A45-922F-4516E049FEB8}"/>
              </a:ext>
            </a:extLst>
          </p:cNvPr>
          <p:cNvSpPr>
            <a:spLocks noGrp="1"/>
          </p:cNvSpPr>
          <p:nvPr/>
        </p:nvSpPr>
        <p:spPr>
          <a:xfrm>
            <a:off x="647700" y="5410200"/>
            <a:ext cx="4318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013" b="0">
                <a:solidFill>
                  <a:srgbClr val="FFFFFF"/>
                </a:solidFill>
              </a:defRPr>
            </a:pPr>
            <a:r>
              <a:rPr lang="it-IT"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RIDUZIONE DELLA RIDONDANZA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mail,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nome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cognome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e password non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vengono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replicati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in piu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relazioni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013" b="0">
                <a:solidFill>
                  <a:srgbClr val="FFFFFF"/>
                </a:solidFill>
              </a:defRPr>
            </a:pP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</a:t>
            </a:r>
            <a:r>
              <a:rPr lang="it-IT"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ogin</a:t>
            </a:r>
            <a:r>
              <a:rPr lang="it-IT"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centralizzato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sola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chiave</a:t>
            </a:r>
            <a:r>
              <a:rPr lang="it-IT"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per tutte le specializzazioni: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MAIL.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40EBBF-74A3-4790-A767-3DE5F36DF5CF}"/>
              </a:ext>
            </a:extLst>
          </p:cNvPr>
          <p:cNvSpPr>
            <a:spLocks noGrp="1"/>
          </p:cNvSpPr>
          <p:nvPr/>
        </p:nvSpPr>
        <p:spPr>
          <a:xfrm>
            <a:off x="7067550" y="5410200"/>
            <a:ext cx="42100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013" b="0">
                <a:solidFill>
                  <a:srgbClr val="FFFFFF"/>
                </a:solidFill>
              </a:defRPr>
            </a:pPr>
            <a:r>
              <a:rPr lang="it-IT" sz="101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ALCUNI CAMPI 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NULL</a:t>
            </a:r>
            <a:r>
              <a:rPr lang="it-IT"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SE NON APPLICABILI AL RUOLO.</a:t>
            </a:r>
            <a:endParaRPr sz="1013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013" b="0">
                <a:solidFill>
                  <a:srgbClr val="FFFFFF"/>
                </a:solidFill>
              </a:defRPr>
            </a:pP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Servono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controlli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condizionali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ruolo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matricola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id_operatore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e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relazioni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  <a:endParaRPr lang="it-IT" sz="1013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013" b="0">
                <a:solidFill>
                  <a:srgbClr val="FFFFFF"/>
                </a:solidFill>
              </a:defRPr>
            </a:pPr>
            <a:r>
              <a:rPr lang="it-IT" sz="101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SCALABILITA’ NUOVI TIPI DI UTENTI.</a:t>
            </a:r>
            <a:endParaRPr sz="1013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4830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066F79-8E88-489D-96BD-A62A7A2A8EC2}"/>
              </a:ext>
            </a:extLst>
          </p:cNvPr>
          <p:cNvSpPr>
            <a:spLocks noGrp="1"/>
          </p:cNvSpPr>
          <p:nvPr/>
        </p:nvSpPr>
        <p:spPr>
          <a:xfrm>
            <a:off x="11144250" y="0"/>
            <a:ext cx="1047750" cy="6324600"/>
          </a:xfrm>
          <a:prstGeom prst="rect">
            <a:avLst/>
          </a:prstGeom>
          <a:solidFill>
            <a:srgbClr val="00B0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8E0E0D-43B4-45A3-8A27-95F4699FB8CB}"/>
              </a:ext>
            </a:extLst>
          </p:cNvPr>
          <p:cNvSpPr>
            <a:spLocks noGrp="1"/>
          </p:cNvSpPr>
          <p:nvPr/>
        </p:nvSpPr>
        <p:spPr>
          <a:xfrm>
            <a:off x="2857500" y="171450"/>
            <a:ext cx="6477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2850" b="1">
                <a:solidFill>
                  <a:srgbClr val="273138"/>
                </a:solidFill>
              </a:defRPr>
            </a:pPr>
            <a:r>
              <a:rPr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Vinc</a:t>
            </a:r>
            <a:r>
              <a:rPr lang="it-IT"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oli</a:t>
            </a:r>
            <a:endParaRPr sz="285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58AFAB-B064-44D9-8EDD-18764DC86DFE}"/>
              </a:ext>
            </a:extLst>
          </p:cNvPr>
          <p:cNvSpPr>
            <a:spLocks noGrp="1"/>
          </p:cNvSpPr>
          <p:nvPr/>
        </p:nvSpPr>
        <p:spPr>
          <a:xfrm>
            <a:off x="609600" y="1114425"/>
            <a:ext cx="4286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275" b="1">
                <a:solidFill>
                  <a:srgbClr val="6F7C45"/>
                </a:solidFill>
              </a:defRPr>
            </a:pPr>
            <a:r>
              <a:rPr sz="16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CA4C11-BE47-4B04-91A9-C5EFD375FA42}"/>
              </a:ext>
            </a:extLst>
          </p:cNvPr>
          <p:cNvSpPr>
            <a:spLocks noGrp="1"/>
          </p:cNvSpPr>
          <p:nvPr/>
        </p:nvSpPr>
        <p:spPr>
          <a:xfrm>
            <a:off x="1238250" y="1076325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273138"/>
                </a:solidFill>
              </a:defRPr>
            </a:pP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Vincolo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di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dominio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sul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ruolo</a:t>
            </a:r>
            <a:endParaRPr sz="160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58DAD5-78BA-4F04-8C98-3A99C235F761}"/>
              </a:ext>
            </a:extLst>
          </p:cNvPr>
          <p:cNvSpPr>
            <a:spLocks noGrp="1"/>
          </p:cNvSpPr>
          <p:nvPr/>
        </p:nvSpPr>
        <p:spPr>
          <a:xfrm>
            <a:off x="1276350" y="1428750"/>
            <a:ext cx="8096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00" b="0">
                <a:solidFill>
                  <a:srgbClr val="273138"/>
                </a:solidFill>
              </a:defRPr>
            </a:pP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ruolo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può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assumere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solo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valori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ammessi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: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studente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operato</a:t>
            </a:r>
            <a:r>
              <a:rPr lang="it-IT"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re mensa per evitare ambiguità nei permessi in base al ruolo.</a:t>
            </a:r>
            <a:endParaRPr sz="1600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310106-FBC5-4836-A58F-0144870EB80F}"/>
              </a:ext>
            </a:extLst>
          </p:cNvPr>
          <p:cNvSpPr>
            <a:spLocks noGrp="1"/>
          </p:cNvSpPr>
          <p:nvPr/>
        </p:nvSpPr>
        <p:spPr>
          <a:xfrm>
            <a:off x="609600" y="2466975"/>
            <a:ext cx="4286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275" b="1">
                <a:solidFill>
                  <a:srgbClr val="7B4E58"/>
                </a:solidFill>
              </a:defRPr>
            </a:pPr>
            <a:r>
              <a:rPr sz="16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A57F0E-6E22-48F7-B59A-763661FB2FAD}"/>
              </a:ext>
            </a:extLst>
          </p:cNvPr>
          <p:cNvSpPr>
            <a:spLocks noGrp="1"/>
          </p:cNvSpPr>
          <p:nvPr/>
        </p:nvSpPr>
        <p:spPr>
          <a:xfrm>
            <a:off x="1238250" y="2447925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273138"/>
                </a:solidFill>
              </a:defRPr>
            </a:pPr>
            <a:r>
              <a:rPr sz="1600" b="1">
                <a:solidFill>
                  <a:srgbClr val="273138"/>
                </a:solidFill>
                <a:latin typeface="Arial"/>
                <a:ea typeface="Arial"/>
                <a:cs typeface="Arial"/>
              </a:rPr>
              <a:t>Vincoli di tupla sui campi specifici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3309C4-42DA-44C1-8429-BB658C3A287F}"/>
              </a:ext>
            </a:extLst>
          </p:cNvPr>
          <p:cNvSpPr>
            <a:spLocks noGrp="1"/>
          </p:cNvSpPr>
          <p:nvPr/>
        </p:nvSpPr>
        <p:spPr>
          <a:xfrm>
            <a:off x="1276350" y="2781300"/>
            <a:ext cx="8096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uno studente deve avere matricola, un operatore mensa deve avere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id_operatore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NOME_Mensa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. Altrimenti si potrebbero inserire record incoerenti, ad esempio un operatore senza mensa assegnata o uno studente con attributi da operatore.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6233D7-01D0-49FB-AAFA-A64795D833B8}"/>
              </a:ext>
            </a:extLst>
          </p:cNvPr>
          <p:cNvSpPr>
            <a:spLocks noGrp="1"/>
          </p:cNvSpPr>
          <p:nvPr/>
        </p:nvSpPr>
        <p:spPr>
          <a:xfrm>
            <a:off x="609600" y="3819525"/>
            <a:ext cx="4286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275" b="1">
                <a:solidFill>
                  <a:srgbClr val="315F73"/>
                </a:solidFill>
              </a:defRPr>
            </a:pPr>
            <a:r>
              <a:rPr sz="16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CDE070-C349-432B-8F5B-B418D8CDB2E4}"/>
              </a:ext>
            </a:extLst>
          </p:cNvPr>
          <p:cNvSpPr>
            <a:spLocks noGrp="1"/>
          </p:cNvSpPr>
          <p:nvPr/>
        </p:nvSpPr>
        <p:spPr>
          <a:xfrm>
            <a:off x="1238250" y="3800475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273138"/>
                </a:solidFill>
              </a:defRPr>
            </a:pP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Integrita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referenziale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con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controllo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sul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ruolo</a:t>
            </a:r>
            <a:endParaRPr sz="160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24674E-1119-479C-99E2-C0943A6A5AAE}"/>
              </a:ext>
            </a:extLst>
          </p:cNvPr>
          <p:cNvSpPr>
            <a:spLocks noGrp="1"/>
          </p:cNvSpPr>
          <p:nvPr/>
        </p:nvSpPr>
        <p:spPr>
          <a:xfrm>
            <a:off x="1276350" y="4133850"/>
            <a:ext cx="8096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00" b="0">
                <a:solidFill>
                  <a:srgbClr val="273138"/>
                </a:solidFill>
              </a:defRPr>
            </a:pP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PRENOTAZIONE e RECENSIONE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devono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avere chiavi esterne che puntano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a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studenti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; </a:t>
            </a:r>
            <a:r>
              <a:rPr lang="it-IT" sz="160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PUBBLICAZIONE LOTTO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deve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riferirsi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a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operatori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mensa.</a:t>
            </a:r>
          </a:p>
        </p:txBody>
      </p:sp>
    </p:spTree>
    <p:extLst>
      <p:ext uri="{BB962C8B-B14F-4D97-AF65-F5344CB8AC3E}">
        <p14:creationId xmlns:p14="http://schemas.microsoft.com/office/powerpoint/2010/main" val="1431507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5BC4F37-53DD-451C-A721-F10379F8BA83}"/>
              </a:ext>
            </a:extLst>
          </p:cNvPr>
          <p:cNvSpPr>
            <a:spLocks noGrp="1"/>
          </p:cNvSpPr>
          <p:nvPr/>
        </p:nvSpPr>
        <p:spPr>
          <a:xfrm>
            <a:off x="10620375" y="0"/>
            <a:ext cx="1571625" cy="6858000"/>
          </a:xfrm>
          <a:prstGeom prst="rect">
            <a:avLst/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9B5640-0574-42EC-BE3E-DB60836AC1AC}"/>
              </a:ext>
            </a:extLst>
          </p:cNvPr>
          <p:cNvSpPr>
            <a:spLocks noGrp="1"/>
          </p:cNvSpPr>
          <p:nvPr/>
        </p:nvSpPr>
        <p:spPr>
          <a:xfrm>
            <a:off x="342900" y="933450"/>
            <a:ext cx="257175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A6DC3A-AF1D-476A-947C-415B580DB15F}"/>
              </a:ext>
            </a:extLst>
          </p:cNvPr>
          <p:cNvSpPr>
            <a:spLocks noGrp="1"/>
          </p:cNvSpPr>
          <p:nvPr/>
        </p:nvSpPr>
        <p:spPr>
          <a:xfrm>
            <a:off x="10763250" y="400050"/>
            <a:ext cx="7429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9EFB8A-B381-45B1-8470-5D175C986A65}"/>
              </a:ext>
            </a:extLst>
          </p:cNvPr>
          <p:cNvSpPr>
            <a:spLocks noGrp="1"/>
          </p:cNvSpPr>
          <p:nvPr/>
        </p:nvSpPr>
        <p:spPr>
          <a:xfrm>
            <a:off x="10763250" y="533400"/>
            <a:ext cx="5143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EE3C9E-634F-47EA-BA33-166B358B8F7B}"/>
              </a:ext>
            </a:extLst>
          </p:cNvPr>
          <p:cNvSpPr>
            <a:spLocks noGrp="1"/>
          </p:cNvSpPr>
          <p:nvPr/>
        </p:nvSpPr>
        <p:spPr>
          <a:xfrm>
            <a:off x="10763250" y="666750"/>
            <a:ext cx="26670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E15A10-9523-400D-99C4-3DD46AB37364}"/>
              </a:ext>
            </a:extLst>
          </p:cNvPr>
          <p:cNvSpPr>
            <a:spLocks noGrp="1"/>
          </p:cNvSpPr>
          <p:nvPr/>
        </p:nvSpPr>
        <p:spPr>
          <a:xfrm>
            <a:off x="342900" y="2095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Analisi gerarchia UTENTE: accorpamento alle figlie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86185F-B280-4401-AA63-4DF4CC6FF26B}"/>
              </a:ext>
            </a:extLst>
          </p:cNvPr>
          <p:cNvSpPr>
            <a:spLocks noGrp="1"/>
          </p:cNvSpPr>
          <p:nvPr/>
        </p:nvSpPr>
        <p:spPr>
          <a:xfrm>
            <a:off x="419100" y="1009650"/>
            <a:ext cx="4381500" cy="30213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t"/>
          <a:lstStyle/>
          <a:p>
            <a:r>
              <a:rPr lang="it-IT" dirty="0">
                <a:solidFill>
                  <a:schemeClr val="bg1"/>
                </a:solidFill>
              </a:rPr>
              <a:t>L'altra possibilità consiste nell'eliminare il padre UTENTE e mantenere due relazioni autonome, STUDENTE e OPERATORE_MENSA, ciascuna con gli attributi comuni dell'account e con i propri attributi specifici.</a:t>
            </a:r>
          </a:p>
          <a:p>
            <a:r>
              <a:rPr lang="it-IT" dirty="0">
                <a:solidFill>
                  <a:schemeClr val="bg1"/>
                </a:solidFill>
              </a:rPr>
              <a:t>In questa soluzione gli attributi MAIL, password, nome e cognome vengono replicati nelle entità figlie, mentre le relazioni operative vengono collegate direttamente alla tabella del ruolo corretto.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38879" y="800100"/>
            <a:ext cx="5343368" cy="38576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8CD4931-4FC4-484E-8C32-F64BB1F9A750}"/>
              </a:ext>
            </a:extLst>
          </p:cNvPr>
          <p:cNvSpPr>
            <a:spLocks noGrp="1"/>
          </p:cNvSpPr>
          <p:nvPr/>
        </p:nvSpPr>
        <p:spPr>
          <a:xfrm>
            <a:off x="419100" y="4953000"/>
            <a:ext cx="4762500" cy="1181100"/>
          </a:xfrm>
          <a:prstGeom prst="rect">
            <a:avLst/>
          </a:prstGeom>
          <a:solidFill>
            <a:srgbClr val="002060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348DAB-0207-43A2-8512-FC1C2F4DF89C}"/>
              </a:ext>
            </a:extLst>
          </p:cNvPr>
          <p:cNvSpPr>
            <a:spLocks noGrp="1"/>
          </p:cNvSpPr>
          <p:nvPr/>
        </p:nvSpPr>
        <p:spPr>
          <a:xfrm>
            <a:off x="6838950" y="4953000"/>
            <a:ext cx="4762500" cy="1181100"/>
          </a:xfrm>
          <a:prstGeom prst="rect">
            <a:avLst/>
          </a:prstGeom>
          <a:solidFill>
            <a:srgbClr val="3B3338"/>
          </a:solidFill>
          <a:ln w="19050">
            <a:solidFill>
              <a:srgbClr val="7B4E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4F534F-76FD-4239-B136-B34E44231B7E}"/>
              </a:ext>
            </a:extLst>
          </p:cNvPr>
          <p:cNvSpPr>
            <a:spLocks noGrp="1"/>
          </p:cNvSpPr>
          <p:nvPr/>
        </p:nvSpPr>
        <p:spPr>
          <a:xfrm>
            <a:off x="647700" y="5162550"/>
            <a:ext cx="552450" cy="38100"/>
          </a:xfrm>
          <a:prstGeom prst="rect">
            <a:avLst/>
          </a:prstGeom>
          <a:solidFill>
            <a:srgbClr val="00B0F0"/>
          </a:solidFill>
          <a:ln w="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4456A6-AB15-4DC5-8F27-1876F28DB1AC}"/>
              </a:ext>
            </a:extLst>
          </p:cNvPr>
          <p:cNvSpPr>
            <a:spLocks noGrp="1"/>
          </p:cNvSpPr>
          <p:nvPr/>
        </p:nvSpPr>
        <p:spPr>
          <a:xfrm>
            <a:off x="7067550" y="5162550"/>
            <a:ext cx="552450" cy="38100"/>
          </a:xfrm>
          <a:prstGeom prst="rect">
            <a:avLst/>
          </a:prstGeom>
          <a:solidFill>
            <a:srgbClr val="7B4E58"/>
          </a:solidFill>
          <a:ln w="0">
            <a:solidFill>
              <a:srgbClr val="7B4E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4D2D1A-C04E-4AA1-B084-E8EE3EFF2F75}"/>
              </a:ext>
            </a:extLst>
          </p:cNvPr>
          <p:cNvSpPr>
            <a:spLocks noGrp="1"/>
          </p:cNvSpPr>
          <p:nvPr/>
        </p:nvSpPr>
        <p:spPr>
          <a:xfrm>
            <a:off x="1352550" y="50292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EAF0DF"/>
                </a:solidFill>
              </a:defRPr>
            </a:pPr>
            <a:r>
              <a:rPr sz="1350" b="1">
                <a:solidFill>
                  <a:srgbClr val="EAF0DF"/>
                </a:solidFill>
                <a:latin typeface="Arial"/>
                <a:ea typeface="Arial"/>
                <a:cs typeface="Arial"/>
              </a:rPr>
              <a:t>Vantaggi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7147D3-52C1-4595-AE22-E1E3E04A3590}"/>
              </a:ext>
            </a:extLst>
          </p:cNvPr>
          <p:cNvSpPr>
            <a:spLocks noGrp="1"/>
          </p:cNvSpPr>
          <p:nvPr/>
        </p:nvSpPr>
        <p:spPr>
          <a:xfrm>
            <a:off x="7772400" y="50292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2E2E5"/>
                </a:solidFill>
              </a:defRPr>
            </a:pPr>
            <a:r>
              <a:rPr sz="1350" b="1">
                <a:solidFill>
                  <a:srgbClr val="F2E2E5"/>
                </a:solidFill>
                <a:latin typeface="Arial"/>
                <a:ea typeface="Arial"/>
                <a:cs typeface="Arial"/>
              </a:rPr>
              <a:t>Svantaggi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AC65EF-0D62-4E1A-A9DB-C64F94182E81}"/>
              </a:ext>
            </a:extLst>
          </p:cNvPr>
          <p:cNvSpPr>
            <a:spLocks noGrp="1"/>
          </p:cNvSpPr>
          <p:nvPr/>
        </p:nvSpPr>
        <p:spPr>
          <a:xfrm>
            <a:off x="647700" y="5410200"/>
            <a:ext cx="42100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013" b="0">
                <a:solidFill>
                  <a:srgbClr val="FFFFFF"/>
                </a:solidFill>
              </a:defRPr>
            </a:pPr>
            <a:r>
              <a:rPr lang="it-IT" sz="101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OGNI ENTITA’ CONTIENE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solo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campi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pertinenti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sz="101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AZZERANDO o quasi I CAMPI NULL.</a:t>
            </a:r>
            <a:endParaRPr sz="1013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013" b="0">
                <a:solidFill>
                  <a:srgbClr val="FFFFFF"/>
                </a:solidFill>
              </a:defRPr>
            </a:pPr>
            <a:r>
              <a:rPr lang="it-IT"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VINCOLI DI RUOLO PIU’ CHIARI: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 FK operative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risultano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semanticamente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esplicite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gia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dal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nome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della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tabella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959D25-8882-4158-89D7-F65D1CAEF621}"/>
              </a:ext>
            </a:extLst>
          </p:cNvPr>
          <p:cNvSpPr>
            <a:spLocks noGrp="1"/>
          </p:cNvSpPr>
          <p:nvPr/>
        </p:nvSpPr>
        <p:spPr>
          <a:xfrm>
            <a:off x="7067550" y="5410200"/>
            <a:ext cx="42100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013" b="0">
                <a:solidFill>
                  <a:srgbClr val="FFFFFF"/>
                </a:solidFill>
              </a:defRPr>
            </a:pPr>
            <a:r>
              <a:rPr lang="it-IT"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RIPETIZIONE NON BANALE DI TUTTI GLI ATTRIBUTI COMUNI: 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MAIL, password,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nome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e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cognome</a:t>
            </a:r>
            <a:r>
              <a:rPr lang="it-IT" sz="101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013" b="0">
                <a:solidFill>
                  <a:srgbClr val="FFFFFF"/>
                </a:solidFill>
              </a:defRPr>
            </a:pPr>
            <a:r>
              <a:rPr lang="it-IT"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SCALABILITA’ MOLTO PEGGIORE</a:t>
            </a:r>
          </a:p>
          <a:p>
            <a:pPr algn="l">
              <a:defRPr sz="1013" b="0">
                <a:solidFill>
                  <a:srgbClr val="FFFFFF"/>
                </a:solidFill>
              </a:defRPr>
            </a:pPr>
            <a:endParaRPr sz="1013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680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9D1B35-FE4D-4952-8CDC-3122977DDFB7}"/>
              </a:ext>
            </a:extLst>
          </p:cNvPr>
          <p:cNvSpPr>
            <a:spLocks noGrp="1"/>
          </p:cNvSpPr>
          <p:nvPr/>
        </p:nvSpPr>
        <p:spPr>
          <a:xfrm>
            <a:off x="11144250" y="0"/>
            <a:ext cx="1047750" cy="6324600"/>
          </a:xfrm>
          <a:prstGeom prst="rect">
            <a:avLst/>
          </a:prstGeom>
          <a:solidFill>
            <a:srgbClr val="00B0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AEDF22-18D0-4775-AA20-65E53E5DD746}"/>
              </a:ext>
            </a:extLst>
          </p:cNvPr>
          <p:cNvSpPr>
            <a:spLocks noGrp="1"/>
          </p:cNvSpPr>
          <p:nvPr/>
        </p:nvSpPr>
        <p:spPr>
          <a:xfrm>
            <a:off x="2857500" y="171450"/>
            <a:ext cx="6477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2850" b="1">
                <a:solidFill>
                  <a:srgbClr val="273138"/>
                </a:solidFill>
              </a:defRPr>
            </a:pPr>
            <a:r>
              <a:rPr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Vincoli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857F13-DF76-4CE3-8617-5BE553DC013F}"/>
              </a:ext>
            </a:extLst>
          </p:cNvPr>
          <p:cNvSpPr>
            <a:spLocks noGrp="1"/>
          </p:cNvSpPr>
          <p:nvPr/>
        </p:nvSpPr>
        <p:spPr>
          <a:xfrm>
            <a:off x="609600" y="1114425"/>
            <a:ext cx="4286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275" b="1">
                <a:solidFill>
                  <a:srgbClr val="6F7C45"/>
                </a:solidFill>
              </a:defRPr>
            </a:pPr>
            <a:r>
              <a:rPr sz="1600" b="1" dirty="0">
                <a:solidFill>
                  <a:srgbClr val="00B0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4D0802-0161-4C90-B3AF-AAD6B4B3AD73}"/>
              </a:ext>
            </a:extLst>
          </p:cNvPr>
          <p:cNvSpPr>
            <a:spLocks noGrp="1"/>
          </p:cNvSpPr>
          <p:nvPr/>
        </p:nvSpPr>
        <p:spPr>
          <a:xfrm>
            <a:off x="1238250" y="1085850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273138"/>
                </a:solidFill>
              </a:defRPr>
            </a:pPr>
            <a:r>
              <a:rPr sz="1600" b="1">
                <a:solidFill>
                  <a:srgbClr val="273138"/>
                </a:solidFill>
                <a:latin typeface="Arial"/>
                <a:ea typeface="Arial"/>
                <a:cs typeface="Arial"/>
              </a:rPr>
              <a:t>Disgiunzione cross-tabella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A8BD35-07D7-40FC-B7C1-A684004460B9}"/>
              </a:ext>
            </a:extLst>
          </p:cNvPr>
          <p:cNvSpPr>
            <a:spLocks noGrp="1"/>
          </p:cNvSpPr>
          <p:nvPr/>
        </p:nvSpPr>
        <p:spPr>
          <a:xfrm>
            <a:off x="1276350" y="1428750"/>
            <a:ext cx="8096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00" b="0">
                <a:solidFill>
                  <a:srgbClr val="273138"/>
                </a:solidFill>
              </a:defRPr>
            </a:pP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La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stessa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mail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deve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comparire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al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massimo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in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una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tra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STUDENTE e OPERATORE_MENSA.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F60BF7-A6C7-40BD-A531-DC3B81E31B0A}"/>
              </a:ext>
            </a:extLst>
          </p:cNvPr>
          <p:cNvSpPr>
            <a:spLocks noGrp="1"/>
          </p:cNvSpPr>
          <p:nvPr/>
        </p:nvSpPr>
        <p:spPr>
          <a:xfrm>
            <a:off x="609600" y="2466975"/>
            <a:ext cx="4286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275" b="1">
                <a:solidFill>
                  <a:srgbClr val="7B4E58"/>
                </a:solidFill>
              </a:defRPr>
            </a:pPr>
            <a:r>
              <a:rPr sz="1600" b="1" dirty="0">
                <a:solidFill>
                  <a:srgbClr val="00B0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650AD7-ED1B-495A-A926-D4A11A07AD06}"/>
              </a:ext>
            </a:extLst>
          </p:cNvPr>
          <p:cNvSpPr>
            <a:spLocks noGrp="1"/>
          </p:cNvSpPr>
          <p:nvPr/>
        </p:nvSpPr>
        <p:spPr>
          <a:xfrm>
            <a:off x="1276350" y="2428875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273138"/>
                </a:solidFill>
              </a:defRPr>
            </a:pPr>
            <a:r>
              <a:rPr sz="1600" b="1">
                <a:solidFill>
                  <a:srgbClr val="273138"/>
                </a:solidFill>
                <a:latin typeface="Arial"/>
                <a:ea typeface="Arial"/>
                <a:cs typeface="Arial"/>
              </a:rPr>
              <a:t>Dominio e obbligatorieta replicati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DF5143-639E-4531-B488-5B7A7E5634F7}"/>
              </a:ext>
            </a:extLst>
          </p:cNvPr>
          <p:cNvSpPr>
            <a:spLocks noGrp="1"/>
          </p:cNvSpPr>
          <p:nvPr/>
        </p:nvSpPr>
        <p:spPr>
          <a:xfrm>
            <a:off x="1276350" y="2781300"/>
            <a:ext cx="8096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00" b="0">
                <a:solidFill>
                  <a:srgbClr val="273138"/>
                </a:solidFill>
              </a:defRPr>
            </a:pP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mail, password,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nome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e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cognome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devono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avere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stesso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formato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e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obblighi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in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entrambe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le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relazioni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altrimenti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il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concetto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di account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si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frammenta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16B3C6-F661-408E-800B-3639C9A98994}"/>
              </a:ext>
            </a:extLst>
          </p:cNvPr>
          <p:cNvSpPr>
            <a:spLocks noGrp="1"/>
          </p:cNvSpPr>
          <p:nvPr/>
        </p:nvSpPr>
        <p:spPr>
          <a:xfrm>
            <a:off x="609600" y="3819525"/>
            <a:ext cx="4286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275" b="1">
                <a:solidFill>
                  <a:srgbClr val="315F73"/>
                </a:solidFill>
              </a:defRPr>
            </a:pPr>
            <a:r>
              <a:rPr sz="1600" b="1" dirty="0">
                <a:solidFill>
                  <a:srgbClr val="00B0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3F8263-680B-4041-8CB3-EB2B6FEFFC29}"/>
              </a:ext>
            </a:extLst>
          </p:cNvPr>
          <p:cNvSpPr>
            <a:spLocks noGrp="1"/>
          </p:cNvSpPr>
          <p:nvPr/>
        </p:nvSpPr>
        <p:spPr>
          <a:xfrm>
            <a:off x="1238250" y="3787775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273138"/>
                </a:solidFill>
              </a:defRPr>
            </a:pP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Relazioni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comuni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sdoppiate</a:t>
            </a:r>
            <a:endParaRPr sz="160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5E43A8-60AF-4431-A913-64B00CB815C0}"/>
              </a:ext>
            </a:extLst>
          </p:cNvPr>
          <p:cNvSpPr>
            <a:spLocks noGrp="1"/>
          </p:cNvSpPr>
          <p:nvPr/>
        </p:nvSpPr>
        <p:spPr>
          <a:xfrm>
            <a:off x="1276350" y="4133850"/>
            <a:ext cx="8096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00" b="0">
                <a:solidFill>
                  <a:srgbClr val="273138"/>
                </a:solidFill>
              </a:defRPr>
            </a:pPr>
            <a:r>
              <a:rPr sz="1600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Operazioni che riguardano tutti gli account diventano meno lineari, perche non esiste piu un padre unico a cui agganciarsi.</a:t>
            </a:r>
          </a:p>
        </p:txBody>
      </p:sp>
    </p:spTree>
    <p:extLst>
      <p:ext uri="{BB962C8B-B14F-4D97-AF65-F5344CB8AC3E}">
        <p14:creationId xmlns:p14="http://schemas.microsoft.com/office/powerpoint/2010/main" val="55681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3FA514D-1B38-4C4A-B98E-FD1F07CCBB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38200" cy="6858000"/>
          </a:xfrm>
          <a:prstGeom prst="rect">
            <a:avLst/>
          </a:prstGeom>
          <a:solidFill>
            <a:srgbClr val="0020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BA0E81-1631-495F-9927-DF9F03B651B7}"/>
              </a:ext>
            </a:extLst>
          </p:cNvPr>
          <p:cNvSpPr>
            <a:spLocks noGrp="1"/>
          </p:cNvSpPr>
          <p:nvPr/>
        </p:nvSpPr>
        <p:spPr>
          <a:xfrm>
            <a:off x="1285875" y="400050"/>
            <a:ext cx="8477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273138"/>
                </a:solidFill>
              </a:defRPr>
            </a:pPr>
            <a:r>
              <a:rPr sz="285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Motivazioni</a:t>
            </a:r>
            <a:r>
              <a:rPr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della </a:t>
            </a:r>
            <a:r>
              <a:rPr sz="285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scelta</a:t>
            </a:r>
            <a:r>
              <a:rPr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effettuata</a:t>
            </a:r>
            <a:endParaRPr sz="285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10D62D-6F28-40F1-B9BC-457B0A5E1A46}"/>
              </a:ext>
            </a:extLst>
          </p:cNvPr>
          <p:cNvSpPr>
            <a:spLocks noGrp="1"/>
          </p:cNvSpPr>
          <p:nvPr/>
        </p:nvSpPr>
        <p:spPr>
          <a:xfrm>
            <a:off x="1314450" y="1009650"/>
            <a:ext cx="9201150" cy="3571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75" b="1">
                <a:solidFill>
                  <a:srgbClr val="273138"/>
                </a:solidFill>
              </a:defRPr>
            </a:pP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La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scelta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finale è quella 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di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collassare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STUDENTE e OPERATORE_MENSA in UTENTE </a:t>
            </a:r>
            <a:r>
              <a:rPr lang="it-IT"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e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nasce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PER OTTENERE:</a:t>
            </a:r>
            <a:endParaRPr sz="160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183129-D37A-4A07-AD12-AAEF66DBF3C1}"/>
              </a:ext>
            </a:extLst>
          </p:cNvPr>
          <p:cNvSpPr>
            <a:spLocks noGrp="1"/>
          </p:cNvSpPr>
          <p:nvPr/>
        </p:nvSpPr>
        <p:spPr>
          <a:xfrm>
            <a:off x="1428750" y="1952625"/>
            <a:ext cx="795337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2CE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31B903-9422-4750-A508-87F0A005E4F7}"/>
              </a:ext>
            </a:extLst>
          </p:cNvPr>
          <p:cNvSpPr>
            <a:spLocks noGrp="1"/>
          </p:cNvSpPr>
          <p:nvPr/>
        </p:nvSpPr>
        <p:spPr>
          <a:xfrm>
            <a:off x="1733549" y="2066925"/>
            <a:ext cx="2695575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6F7C45"/>
                </a:solidFill>
              </a:defRPr>
            </a:pPr>
            <a:r>
              <a:rPr lang="it-IT" sz="1425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EVITARE DUPLICAZIONE ANAGRAFICA NON BANALE</a:t>
            </a:r>
            <a:endParaRPr sz="1425" b="1" dirty="0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A13A3D-05BD-47C0-95AE-106C0CEC7679}"/>
              </a:ext>
            </a:extLst>
          </p:cNvPr>
          <p:cNvSpPr>
            <a:spLocks noGrp="1"/>
          </p:cNvSpPr>
          <p:nvPr/>
        </p:nvSpPr>
        <p:spPr>
          <a:xfrm>
            <a:off x="4429125" y="1988343"/>
            <a:ext cx="457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00" b="0">
                <a:solidFill>
                  <a:srgbClr val="273138"/>
                </a:solidFill>
              </a:defRPr>
            </a:pPr>
            <a:r>
              <a:rPr lang="it-IT"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Tutti gli attributi comuni(5) non sono ripetuti in ogni </a:t>
            </a:r>
            <a:r>
              <a:rPr lang="it-IT"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entitù</a:t>
            </a:r>
            <a:endParaRPr sz="1400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09736E-F1E2-469F-B7EF-30989CFB7D78}"/>
              </a:ext>
            </a:extLst>
          </p:cNvPr>
          <p:cNvSpPr>
            <a:spLocks noGrp="1"/>
          </p:cNvSpPr>
          <p:nvPr/>
        </p:nvSpPr>
        <p:spPr>
          <a:xfrm>
            <a:off x="1428749" y="3090863"/>
            <a:ext cx="795337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2CE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68456F-7CA8-47FF-BDA4-F7E7E9C0368E}"/>
              </a:ext>
            </a:extLst>
          </p:cNvPr>
          <p:cNvSpPr>
            <a:spLocks noGrp="1"/>
          </p:cNvSpPr>
          <p:nvPr/>
        </p:nvSpPr>
        <p:spPr>
          <a:xfrm>
            <a:off x="1733549" y="3205163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7B4E58"/>
                </a:solidFill>
              </a:defRPr>
            </a:pPr>
            <a:r>
              <a:rPr lang="it-IT" sz="1425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RELAZIONI SEMPLIFICATE</a:t>
            </a:r>
            <a:endParaRPr sz="1425" b="1" dirty="0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9A3C5D-B857-4D14-A61F-F55B6FCE8659}"/>
              </a:ext>
            </a:extLst>
          </p:cNvPr>
          <p:cNvSpPr>
            <a:spLocks noGrp="1"/>
          </p:cNvSpPr>
          <p:nvPr/>
        </p:nvSpPr>
        <p:spPr>
          <a:xfrm>
            <a:off x="4429125" y="3119438"/>
            <a:ext cx="457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00" b="0">
                <a:solidFill>
                  <a:srgbClr val="273138"/>
                </a:solidFill>
              </a:defRPr>
            </a:pP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Prenotazione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,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recensione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e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pubblicazione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possono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usare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sempre </a:t>
            </a:r>
            <a:r>
              <a:rPr lang="it-IT"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la PK 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MAIL</a:t>
            </a:r>
            <a:r>
              <a:rPr lang="it-IT"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e non cambiare ogni volta FK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.</a:t>
            </a:r>
            <a:r>
              <a:rPr lang="it-IT"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E’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Il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ruolo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40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che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chiarisce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l'uso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del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riferimento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E38B3B-CD8E-4F0B-9EB1-B2515A9D93F3}"/>
              </a:ext>
            </a:extLst>
          </p:cNvPr>
          <p:cNvSpPr>
            <a:spLocks noGrp="1"/>
          </p:cNvSpPr>
          <p:nvPr/>
        </p:nvSpPr>
        <p:spPr>
          <a:xfrm>
            <a:off x="1428750" y="4200525"/>
            <a:ext cx="795337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2CE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4D695E-4139-441D-8EAF-D5781E74CEA6}"/>
              </a:ext>
            </a:extLst>
          </p:cNvPr>
          <p:cNvSpPr>
            <a:spLocks noGrp="1"/>
          </p:cNvSpPr>
          <p:nvPr/>
        </p:nvSpPr>
        <p:spPr>
          <a:xfrm>
            <a:off x="1539240" y="4314824"/>
            <a:ext cx="2670810" cy="2876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315F73"/>
                </a:solidFill>
              </a:defRPr>
            </a:pPr>
            <a:r>
              <a:rPr lang="it-IT" sz="1425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COSTO </a:t>
            </a:r>
            <a:r>
              <a:rPr lang="it-IT" sz="1425" b="1" dirty="0" err="1">
                <a:solidFill>
                  <a:srgbClr val="0070C0"/>
                </a:solidFill>
                <a:latin typeface="Arial"/>
                <a:ea typeface="Arial"/>
                <a:cs typeface="Arial"/>
              </a:rPr>
              <a:t>NULLs</a:t>
            </a:r>
            <a:r>
              <a:rPr lang="it-IT" sz="1425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 ACCETTABILE</a:t>
            </a:r>
            <a:endParaRPr sz="1425" b="1" dirty="0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8D8A1A-EB34-44EF-B228-6D603D0E2C19}"/>
              </a:ext>
            </a:extLst>
          </p:cNvPr>
          <p:cNvSpPr>
            <a:spLocks noGrp="1"/>
          </p:cNvSpPr>
          <p:nvPr/>
        </p:nvSpPr>
        <p:spPr>
          <a:xfrm>
            <a:off x="4429125" y="4324350"/>
            <a:ext cx="457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00" b="0">
                <a:solidFill>
                  <a:srgbClr val="273138"/>
                </a:solidFill>
              </a:defRPr>
            </a:pP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I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campi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specifici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sono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pochi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. Lo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spreco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di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spazio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40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è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meno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problematico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della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duplicazione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dell'anagrafica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5850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C59D50-28F6-4950-9565-B90821E0D41E}"/>
              </a:ext>
            </a:extLst>
          </p:cNvPr>
          <p:cNvSpPr>
            <a:spLocks noGrp="1"/>
          </p:cNvSpPr>
          <p:nvPr/>
        </p:nvSpPr>
        <p:spPr>
          <a:xfrm>
            <a:off x="10620375" y="0"/>
            <a:ext cx="1571625" cy="6858000"/>
          </a:xfrm>
          <a:prstGeom prst="rect">
            <a:avLst/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165084-54F5-4723-92C7-0EA1B239E26D}"/>
              </a:ext>
            </a:extLst>
          </p:cNvPr>
          <p:cNvSpPr>
            <a:spLocks noGrp="1"/>
          </p:cNvSpPr>
          <p:nvPr/>
        </p:nvSpPr>
        <p:spPr>
          <a:xfrm>
            <a:off x="342900" y="933450"/>
            <a:ext cx="257175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B27ABB-2B65-4B50-AA80-56DD9CE1DFB8}"/>
              </a:ext>
            </a:extLst>
          </p:cNvPr>
          <p:cNvSpPr>
            <a:spLocks noGrp="1"/>
          </p:cNvSpPr>
          <p:nvPr/>
        </p:nvSpPr>
        <p:spPr>
          <a:xfrm>
            <a:off x="10763250" y="400050"/>
            <a:ext cx="7429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40D19A-00D3-4C46-8C29-915CBBBF5465}"/>
              </a:ext>
            </a:extLst>
          </p:cNvPr>
          <p:cNvSpPr>
            <a:spLocks noGrp="1"/>
          </p:cNvSpPr>
          <p:nvPr/>
        </p:nvSpPr>
        <p:spPr>
          <a:xfrm>
            <a:off x="10763250" y="533400"/>
            <a:ext cx="5143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261B46-14B7-4C0A-8D81-04BCCD737B88}"/>
              </a:ext>
            </a:extLst>
          </p:cNvPr>
          <p:cNvSpPr>
            <a:spLocks noGrp="1"/>
          </p:cNvSpPr>
          <p:nvPr/>
        </p:nvSpPr>
        <p:spPr>
          <a:xfrm>
            <a:off x="10763250" y="666750"/>
            <a:ext cx="26670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73858C-63A5-4159-9D9E-87840BA79AC3}"/>
              </a:ext>
            </a:extLst>
          </p:cNvPr>
          <p:cNvSpPr>
            <a:spLocks noGrp="1"/>
          </p:cNvSpPr>
          <p:nvPr/>
        </p:nvSpPr>
        <p:spPr>
          <a:xfrm>
            <a:off x="171450" y="239486"/>
            <a:ext cx="9906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Eliminazione</a:t>
            </a:r>
            <a:r>
              <a:rPr lang="it-IT" sz="2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/Gestione</a:t>
            </a:r>
            <a:r>
              <a:rPr sz="2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  <a:r>
              <a:rPr sz="28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ttributi</a:t>
            </a:r>
            <a:r>
              <a:rPr sz="2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multivalore</a:t>
            </a:r>
            <a:endParaRPr sz="28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42996B-2951-4ADF-9D11-14C70AB9CA86}"/>
              </a:ext>
            </a:extLst>
          </p:cNvPr>
          <p:cNvSpPr>
            <a:spLocks noGrp="1"/>
          </p:cNvSpPr>
          <p:nvPr/>
        </p:nvSpPr>
        <p:spPr>
          <a:xfrm>
            <a:off x="590549" y="1219200"/>
            <a:ext cx="7356021" cy="3714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Nel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modello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concettuale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sono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individuati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attributi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NON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devono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rimanere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testuali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sz="14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Allergeni</a:t>
            </a:r>
            <a:endParaRPr sz="14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prodotto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contenere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piu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allergeni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e lo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stesso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allergene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essere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presente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in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molti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prodotti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 Per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CONTENUTO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diventa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relazione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autonoma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sz="14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CONTENUTO(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Nome_prodotto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Nome_allergene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)</a:t>
            </a:r>
          </a:p>
          <a:p>
            <a:endParaRPr sz="14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Attributi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composti</a:t>
            </a:r>
            <a:endParaRPr sz="14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fascia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oraria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del lotto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viene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separata in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ora_inizio_ritiro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e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ora_fine_ritiro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 Nome,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cognome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e mail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restano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separati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per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l'utente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2CFE6E-C276-4B0C-B62C-D55686D64EE1}"/>
              </a:ext>
            </a:extLst>
          </p:cNvPr>
          <p:cNvSpPr>
            <a:spLocks noGrp="1"/>
          </p:cNvSpPr>
          <p:nvPr/>
        </p:nvSpPr>
        <p:spPr>
          <a:xfrm>
            <a:off x="8153400" y="133350"/>
            <a:ext cx="2381250" cy="1123950"/>
          </a:xfrm>
          <a:prstGeom prst="rect">
            <a:avLst/>
          </a:prstGeom>
          <a:solidFill>
            <a:srgbClr val="315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obiettivo</a:t>
            </a:r>
            <a:r>
              <a:rPr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attributi</a:t>
            </a:r>
            <a:r>
              <a:rPr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atomici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 </a:t>
            </a:r>
            <a:r>
              <a:rPr sz="18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ricerche</a:t>
            </a:r>
            <a:r>
              <a:rPr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pulite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990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3238AE-EEA5-407B-B197-69E915510889}"/>
              </a:ext>
            </a:extLst>
          </p:cNvPr>
          <p:cNvSpPr>
            <a:spLocks noGrp="1"/>
          </p:cNvSpPr>
          <p:nvPr/>
        </p:nvSpPr>
        <p:spPr>
          <a:xfrm>
            <a:off x="10620375" y="0"/>
            <a:ext cx="1571625" cy="6858000"/>
          </a:xfrm>
          <a:prstGeom prst="rect">
            <a:avLst/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7DB6C7-564D-4455-8426-18BB5F9301FB}"/>
              </a:ext>
            </a:extLst>
          </p:cNvPr>
          <p:cNvSpPr>
            <a:spLocks noGrp="1"/>
          </p:cNvSpPr>
          <p:nvPr/>
        </p:nvSpPr>
        <p:spPr>
          <a:xfrm>
            <a:off x="342900" y="933450"/>
            <a:ext cx="257175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9CE3AD-1453-490F-9D4F-096419EFF22D}"/>
              </a:ext>
            </a:extLst>
          </p:cNvPr>
          <p:cNvSpPr>
            <a:spLocks noGrp="1"/>
          </p:cNvSpPr>
          <p:nvPr/>
        </p:nvSpPr>
        <p:spPr>
          <a:xfrm>
            <a:off x="10763250" y="400050"/>
            <a:ext cx="7429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46EBCC-1239-4D26-B02B-73D11F2DD5E0}"/>
              </a:ext>
            </a:extLst>
          </p:cNvPr>
          <p:cNvSpPr>
            <a:spLocks noGrp="1"/>
          </p:cNvSpPr>
          <p:nvPr/>
        </p:nvSpPr>
        <p:spPr>
          <a:xfrm>
            <a:off x="10763250" y="533400"/>
            <a:ext cx="5143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B1B90F-F8F3-430B-8E36-E0EC0D3149A2}"/>
              </a:ext>
            </a:extLst>
          </p:cNvPr>
          <p:cNvSpPr>
            <a:spLocks noGrp="1"/>
          </p:cNvSpPr>
          <p:nvPr/>
        </p:nvSpPr>
        <p:spPr>
          <a:xfrm>
            <a:off x="10763250" y="666750"/>
            <a:ext cx="26670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82B21B-9CFB-4053-B3A1-5889D7F43766}"/>
              </a:ext>
            </a:extLst>
          </p:cNvPr>
          <p:cNvSpPr>
            <a:spLocks noGrp="1"/>
          </p:cNvSpPr>
          <p:nvPr/>
        </p:nvSpPr>
        <p:spPr>
          <a:xfrm>
            <a:off x="342900" y="2095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Normalizzazione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801317-8C54-4DE0-8E7C-2A8FF877B1C8}"/>
              </a:ext>
            </a:extLst>
          </p:cNvPr>
          <p:cNvSpPr>
            <a:spLocks noGrp="1"/>
          </p:cNvSpPr>
          <p:nvPr/>
        </p:nvSpPr>
        <p:spPr>
          <a:xfrm>
            <a:off x="647700" y="1123950"/>
            <a:ext cx="8382000" cy="3762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lang="it-IT" sz="1600" dirty="0">
                <a:solidFill>
                  <a:schemeClr val="bg1"/>
                </a:solidFill>
              </a:rPr>
              <a:t>La prima forma normale è rispettata perché non ci sono attributi con elenchi interni: gli allergeni passano dalla relazione CONTENUTO.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endParaRPr lang="it-IT" sz="1600" dirty="0">
              <a:solidFill>
                <a:schemeClr val="bg1"/>
              </a:solidFill>
            </a:endParaRP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lang="it-IT" sz="1600" dirty="0">
                <a:solidFill>
                  <a:schemeClr val="bg1"/>
                </a:solidFill>
              </a:rPr>
              <a:t>Nelle tabelle con chiave composta, come CONTENUTO o PRENOTAZIONE, gli attributi dipendono dalla combinazione Completa della chiave, elimina quindi la dipendenza parziale da una delle due chiavi.</a:t>
            </a:r>
          </a:p>
          <a:p>
            <a:endParaRPr lang="it-IT" sz="1600" dirty="0">
              <a:solidFill>
                <a:schemeClr val="bg1"/>
              </a:solidFill>
            </a:endParaRPr>
          </a:p>
          <a:p>
            <a:r>
              <a:rPr lang="it-IT" sz="1600" dirty="0">
                <a:solidFill>
                  <a:schemeClr val="bg1"/>
                </a:solidFill>
              </a:rPr>
              <a:t>La terza forma normale viene mantenuta separando mensa, lotto, prodotto e allergene. Il prodotto non ripete i dati dell'allergene e il lotto non ingloba i dati della mensa.</a:t>
            </a:r>
          </a:p>
          <a:p>
            <a:r>
              <a:rPr lang="it-IT" sz="1600" dirty="0">
                <a:solidFill>
                  <a:schemeClr val="bg1"/>
                </a:solidFill>
              </a:rPr>
              <a:t>Quindi tutti gli attributi dipendono solo e direttamente dalla chiave PK e nessun’altro attributo ne decide o influenza un altro. NESSUNA DIPENDENZA A CATENA.</a:t>
            </a:r>
          </a:p>
          <a:p>
            <a:r>
              <a:rPr lang="it-IT" sz="1600" dirty="0" err="1">
                <a:solidFill>
                  <a:schemeClr val="bg1"/>
                </a:solidFill>
              </a:rPr>
              <a:t>Q_disponibile</a:t>
            </a:r>
            <a:r>
              <a:rPr lang="it-IT" sz="1600" dirty="0">
                <a:solidFill>
                  <a:schemeClr val="bg1"/>
                </a:solidFill>
              </a:rPr>
              <a:t> è una ridondanza voluta: si potrebbe ricavare dalle prenotazioni, ma salvarla rende più immediata la visualizzazione dei lotti. Va però aggiornata quando una prenotazione viene creata o annullata.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endParaRPr sz="135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B7C60A-AC88-44DF-A6DA-EAB24B7EDBE5}"/>
              </a:ext>
            </a:extLst>
          </p:cNvPr>
          <p:cNvSpPr>
            <a:spLocks noGrp="1"/>
          </p:cNvSpPr>
          <p:nvPr/>
        </p:nvSpPr>
        <p:spPr>
          <a:xfrm>
            <a:off x="6600825" y="4886325"/>
            <a:ext cx="2428875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NF</a:t>
            </a:r>
          </a:p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1NF  2NF  3NF</a:t>
            </a:r>
          </a:p>
        </p:txBody>
      </p:sp>
    </p:spTree>
    <p:extLst>
      <p:ext uri="{BB962C8B-B14F-4D97-AF65-F5344CB8AC3E}">
        <p14:creationId xmlns:p14="http://schemas.microsoft.com/office/powerpoint/2010/main" val="1614900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5D9B959-ADA0-4675-A892-F9F84BD402B4}"/>
              </a:ext>
            </a:extLst>
          </p:cNvPr>
          <p:cNvSpPr>
            <a:spLocks noGrp="1"/>
          </p:cNvSpPr>
          <p:nvPr/>
        </p:nvSpPr>
        <p:spPr>
          <a:xfrm>
            <a:off x="10620375" y="0"/>
            <a:ext cx="1571625" cy="6858000"/>
          </a:xfrm>
          <a:prstGeom prst="rect">
            <a:avLst/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3988D3-3A1B-4E6D-B1C9-4A56AF6A0F87}"/>
              </a:ext>
            </a:extLst>
          </p:cNvPr>
          <p:cNvSpPr>
            <a:spLocks noGrp="1"/>
          </p:cNvSpPr>
          <p:nvPr/>
        </p:nvSpPr>
        <p:spPr>
          <a:xfrm>
            <a:off x="342900" y="933450"/>
            <a:ext cx="257175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2A3634-841C-4C19-AD8D-84FF394AC738}"/>
              </a:ext>
            </a:extLst>
          </p:cNvPr>
          <p:cNvSpPr>
            <a:spLocks noGrp="1"/>
          </p:cNvSpPr>
          <p:nvPr/>
        </p:nvSpPr>
        <p:spPr>
          <a:xfrm>
            <a:off x="10763250" y="400050"/>
            <a:ext cx="7429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A6F812-E476-43EC-8813-A197709AC6CD}"/>
              </a:ext>
            </a:extLst>
          </p:cNvPr>
          <p:cNvSpPr>
            <a:spLocks noGrp="1"/>
          </p:cNvSpPr>
          <p:nvPr/>
        </p:nvSpPr>
        <p:spPr>
          <a:xfrm>
            <a:off x="10763250" y="533400"/>
            <a:ext cx="5143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790800-5E96-4E38-BFD5-A0864DDCC725}"/>
              </a:ext>
            </a:extLst>
          </p:cNvPr>
          <p:cNvSpPr>
            <a:spLocks noGrp="1"/>
          </p:cNvSpPr>
          <p:nvPr/>
        </p:nvSpPr>
        <p:spPr>
          <a:xfrm>
            <a:off x="10763250" y="666750"/>
            <a:ext cx="26670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70B559-EC3A-443C-9E21-B69C315644F8}"/>
              </a:ext>
            </a:extLst>
          </p:cNvPr>
          <p:cNvSpPr>
            <a:spLocks noGrp="1"/>
          </p:cNvSpPr>
          <p:nvPr/>
        </p:nvSpPr>
        <p:spPr>
          <a:xfrm>
            <a:off x="342900" y="2095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Modello Logico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C648E6-1A42-4EC4-8BA9-CAF58E9E9300}"/>
              </a:ext>
            </a:extLst>
          </p:cNvPr>
          <p:cNvSpPr>
            <a:spLocks noGrp="1"/>
          </p:cNvSpPr>
          <p:nvPr/>
        </p:nvSpPr>
        <p:spPr>
          <a:xfrm>
            <a:off x="895350" y="1190625"/>
            <a:ext cx="2428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0"/>
                </a:solidFill>
              </a:defRPr>
            </a:pPr>
            <a:r>
              <a:rPr sz="1350" b="1">
                <a:solidFill>
                  <a:srgbClr val="F4F4F0"/>
                </a:solidFill>
                <a:latin typeface="Consolas"/>
                <a:ea typeface="Consolas"/>
                <a:cs typeface="Consolas"/>
              </a:rPr>
              <a:t>UTENTE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94A270-414E-4AC6-A93A-39F9E17C5888}"/>
              </a:ext>
            </a:extLst>
          </p:cNvPr>
          <p:cNvSpPr>
            <a:spLocks noGrp="1"/>
          </p:cNvSpPr>
          <p:nvPr/>
        </p:nvSpPr>
        <p:spPr>
          <a:xfrm>
            <a:off x="3311980" y="1209675"/>
            <a:ext cx="796562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>
              <a:defRPr sz="1238" b="0">
                <a:solidFill>
                  <a:srgbClr val="FFFFFF"/>
                </a:solidFill>
              </a:defRPr>
            </a:pPr>
            <a:r>
              <a:rPr lang="it-IT" sz="1238" dirty="0">
                <a:latin typeface="Consolas" panose="020B0609020204030204" pitchFamily="49" charset="0"/>
              </a:rPr>
              <a:t>(</a:t>
            </a:r>
            <a:r>
              <a:rPr lang="it-IT" sz="1238" u="sng" dirty="0">
                <a:latin typeface="Consolas" panose="020B0609020204030204" pitchFamily="49" charset="0"/>
              </a:rPr>
              <a:t>MAIL</a:t>
            </a:r>
            <a:r>
              <a:rPr lang="it-IT" sz="1238" dirty="0">
                <a:latin typeface="Consolas" panose="020B0609020204030204" pitchFamily="49" charset="0"/>
              </a:rPr>
              <a:t>, nome, cognome, password, ruolo, matricola, </a:t>
            </a:r>
            <a:r>
              <a:rPr lang="it-IT" sz="1238" dirty="0" err="1">
                <a:latin typeface="Consolas" panose="020B0609020204030204" pitchFamily="49" charset="0"/>
              </a:rPr>
              <a:t>id_operatore</a:t>
            </a:r>
            <a:r>
              <a:rPr lang="it-IT" sz="1238" dirty="0">
                <a:latin typeface="Consolas" panose="020B0609020204030204" pitchFamily="49" charset="0"/>
              </a:rPr>
              <a:t>, </a:t>
            </a:r>
            <a:r>
              <a:rPr lang="it-IT" sz="1238" dirty="0" err="1">
                <a:latin typeface="Consolas" panose="020B0609020204030204" pitchFamily="49" charset="0"/>
              </a:rPr>
              <a:t>nome_mensa</a:t>
            </a:r>
            <a:r>
              <a:rPr lang="it-IT" sz="1238" dirty="0">
                <a:latin typeface="Consolas" panose="020B0609020204030204" pitchFamily="49" charset="0"/>
              </a:rPr>
              <a:t>: MENSA(NOME))</a:t>
            </a:r>
            <a:endParaRPr sz="1238" b="0" dirty="0">
              <a:solidFill>
                <a:srgbClr val="FFFFFF"/>
              </a:solidFill>
              <a:latin typeface="Consolas" panose="020B0609020204030204" pitchFamily="49" charset="0"/>
              <a:ea typeface="Consolas"/>
              <a:cs typeface="Consola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CF265D-699A-4CB5-915C-FAB2ACFD1C50}"/>
              </a:ext>
            </a:extLst>
          </p:cNvPr>
          <p:cNvSpPr>
            <a:spLocks noGrp="1"/>
          </p:cNvSpPr>
          <p:nvPr/>
        </p:nvSpPr>
        <p:spPr>
          <a:xfrm>
            <a:off x="895350" y="1724025"/>
            <a:ext cx="2428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0"/>
                </a:solidFill>
              </a:defRPr>
            </a:pPr>
            <a:r>
              <a:rPr sz="1350" b="1">
                <a:solidFill>
                  <a:srgbClr val="F4F4F0"/>
                </a:solidFill>
                <a:latin typeface="Consolas"/>
                <a:ea typeface="Consolas"/>
                <a:cs typeface="Consolas"/>
              </a:rPr>
              <a:t>MENSA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88FCF4-F776-4034-B2D8-6632C1A17140}"/>
              </a:ext>
            </a:extLst>
          </p:cNvPr>
          <p:cNvSpPr>
            <a:spLocks noGrp="1"/>
          </p:cNvSpPr>
          <p:nvPr/>
        </p:nvSpPr>
        <p:spPr>
          <a:xfrm>
            <a:off x="3311980" y="1744436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38" b="0">
                <a:solidFill>
                  <a:srgbClr val="FFFFFF"/>
                </a:solidFill>
              </a:defRPr>
            </a:pPr>
            <a:r>
              <a:rPr lang="it-IT"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NOME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38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indirizzo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38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orario_apertura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38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orario_chiusura</a:t>
            </a:r>
            <a:r>
              <a:rPr lang="it-IT"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  <a:endParaRPr sz="1238" b="0" dirty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866402-E872-44AE-8FDD-19D758357BB3}"/>
              </a:ext>
            </a:extLst>
          </p:cNvPr>
          <p:cNvSpPr>
            <a:spLocks noGrp="1"/>
          </p:cNvSpPr>
          <p:nvPr/>
        </p:nvSpPr>
        <p:spPr>
          <a:xfrm>
            <a:off x="895350" y="2257425"/>
            <a:ext cx="2428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0"/>
                </a:solidFill>
              </a:defRPr>
            </a:pPr>
            <a:r>
              <a:rPr sz="1350" b="1">
                <a:solidFill>
                  <a:srgbClr val="F4F4F0"/>
                </a:solidFill>
                <a:latin typeface="Consolas"/>
                <a:ea typeface="Consolas"/>
                <a:cs typeface="Consolas"/>
              </a:rPr>
              <a:t>PRODOTTO_ALIMENTARE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227470-F9B3-46D2-9AD4-50FB8274330E}"/>
              </a:ext>
            </a:extLst>
          </p:cNvPr>
          <p:cNvSpPr>
            <a:spLocks noGrp="1"/>
          </p:cNvSpPr>
          <p:nvPr/>
        </p:nvSpPr>
        <p:spPr>
          <a:xfrm>
            <a:off x="3324225" y="2257425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38" b="0">
                <a:solidFill>
                  <a:srgbClr val="FFFFFF"/>
                </a:solidFill>
              </a:defRPr>
            </a:pPr>
            <a:r>
              <a:rPr lang="it-IT"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NOME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38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categoria</a:t>
            </a:r>
            <a:r>
              <a:rPr lang="it-IT"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  <a:endParaRPr sz="1238" b="0" dirty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A5425C-3733-4C6C-AE9E-1A017B5D8A93}"/>
              </a:ext>
            </a:extLst>
          </p:cNvPr>
          <p:cNvSpPr>
            <a:spLocks noGrp="1"/>
          </p:cNvSpPr>
          <p:nvPr/>
        </p:nvSpPr>
        <p:spPr>
          <a:xfrm>
            <a:off x="895350" y="2790825"/>
            <a:ext cx="2428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0"/>
                </a:solidFill>
              </a:defRPr>
            </a:pPr>
            <a:r>
              <a:rPr sz="1350" b="1">
                <a:solidFill>
                  <a:srgbClr val="F4F4F0"/>
                </a:solidFill>
                <a:latin typeface="Consolas"/>
                <a:ea typeface="Consolas"/>
                <a:cs typeface="Consolas"/>
              </a:rPr>
              <a:t>ALLERGENE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B97C21-32E6-4C40-A372-52A8A229F5FD}"/>
              </a:ext>
            </a:extLst>
          </p:cNvPr>
          <p:cNvSpPr>
            <a:spLocks noGrp="1"/>
          </p:cNvSpPr>
          <p:nvPr/>
        </p:nvSpPr>
        <p:spPr>
          <a:xfrm>
            <a:off x="3324225" y="2790825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38" b="0">
                <a:solidFill>
                  <a:srgbClr val="FFFFFF"/>
                </a:solidFill>
              </a:defRPr>
            </a:pPr>
            <a:r>
              <a:rPr lang="it-IT"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NOME</a:t>
            </a:r>
            <a:r>
              <a:rPr lang="it-IT"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  <a:endParaRPr sz="1238" b="0" u="sng" dirty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9A6E94-5BFA-4E00-BB78-E64FC0EAE300}"/>
              </a:ext>
            </a:extLst>
          </p:cNvPr>
          <p:cNvSpPr>
            <a:spLocks noGrp="1"/>
          </p:cNvSpPr>
          <p:nvPr/>
        </p:nvSpPr>
        <p:spPr>
          <a:xfrm>
            <a:off x="895350" y="3409950"/>
            <a:ext cx="2428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0"/>
                </a:solidFill>
              </a:defRPr>
            </a:pPr>
            <a:r>
              <a:rPr sz="1350" b="1">
                <a:solidFill>
                  <a:srgbClr val="F4F4F0"/>
                </a:solidFill>
                <a:latin typeface="Consolas"/>
                <a:ea typeface="Consolas"/>
                <a:cs typeface="Consolas"/>
              </a:rPr>
              <a:t>LOTTO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8AEF00-5A46-4B7C-8F5C-09E541501BEB}"/>
              </a:ext>
            </a:extLst>
          </p:cNvPr>
          <p:cNvSpPr>
            <a:spLocks noGrp="1"/>
          </p:cNvSpPr>
          <p:nvPr/>
        </p:nvSpPr>
        <p:spPr>
          <a:xfrm>
            <a:off x="3324225" y="3409950"/>
            <a:ext cx="6572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63" b="0">
                <a:solidFill>
                  <a:srgbClr val="FFFFFF"/>
                </a:solidFill>
              </a:defRPr>
            </a:pPr>
            <a:r>
              <a:rPr lang="it-IT" sz="1163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CODICE_LOTTO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prezzo_simbolico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data_pubblicazione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data_scadenza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stato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defRPr sz="1163" b="0">
                <a:solidFill>
                  <a:srgbClr val="FFFFFF"/>
                </a:solidFill>
              </a:defRPr>
            </a:pP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ora_inizio_ritiro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ora_fine_ritiro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Q_iniziale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Q_disponibile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defRPr sz="1163" b="0">
                <a:solidFill>
                  <a:srgbClr val="FFFFFF"/>
                </a:solidFill>
              </a:defRPr>
            </a:pP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nome_mensa</a:t>
            </a:r>
            <a:r>
              <a:rPr lang="it-IT"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 MENSA(NOME)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nome_prodotto</a:t>
            </a:r>
            <a:r>
              <a:rPr lang="it-IT"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 PRODOTTO_ALIMENTARE(NOME)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mail_operatore</a:t>
            </a:r>
            <a:r>
              <a:rPr lang="it-IT"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 UTENTE (MAIL))</a:t>
            </a:r>
            <a:endParaRPr sz="1163" b="0" dirty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8232B1-BE21-44E6-86B4-C453A63BEEF9}"/>
              </a:ext>
            </a:extLst>
          </p:cNvPr>
          <p:cNvSpPr>
            <a:spLocks noGrp="1"/>
          </p:cNvSpPr>
          <p:nvPr/>
        </p:nvSpPr>
        <p:spPr>
          <a:xfrm>
            <a:off x="895350" y="4591050"/>
            <a:ext cx="2428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0"/>
                </a:solidFill>
              </a:defRPr>
            </a:pPr>
            <a:r>
              <a:rPr sz="1350" b="1">
                <a:solidFill>
                  <a:srgbClr val="F4F4F0"/>
                </a:solidFill>
                <a:latin typeface="Consolas"/>
                <a:ea typeface="Consolas"/>
                <a:cs typeface="Consolas"/>
              </a:rPr>
              <a:t>PRENOTAZIONE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5B2ACF-71BA-40D4-B1F1-E500155A1E05}"/>
              </a:ext>
            </a:extLst>
          </p:cNvPr>
          <p:cNvSpPr>
            <a:spLocks noGrp="1"/>
          </p:cNvSpPr>
          <p:nvPr/>
        </p:nvSpPr>
        <p:spPr>
          <a:xfrm>
            <a:off x="3324225" y="4588329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38" b="0">
                <a:solidFill>
                  <a:srgbClr val="FFFFFF"/>
                </a:solidFill>
              </a:defRPr>
            </a:pPr>
            <a:r>
              <a:rPr lang="it-IT"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MAIL</a:t>
            </a:r>
            <a:r>
              <a:rPr lang="it-IT" sz="1238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Studente</a:t>
            </a:r>
            <a:r>
              <a:rPr lang="it-IT" sz="1238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 UTENTE (MAIL)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CODICE_LOTTO</a:t>
            </a:r>
            <a:r>
              <a:rPr lang="it-IT"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 LOTTO(CODICE_LOTTO)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data, </a:t>
            </a:r>
            <a:r>
              <a:rPr sz="1238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quantita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38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stato</a:t>
            </a:r>
            <a:r>
              <a:rPr lang="it-IT"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  <a:endParaRPr sz="1238" b="0" dirty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A0398F-C6A0-4D6D-A608-D8A6314196FF}"/>
              </a:ext>
            </a:extLst>
          </p:cNvPr>
          <p:cNvSpPr>
            <a:spLocks noGrp="1"/>
          </p:cNvSpPr>
          <p:nvPr/>
        </p:nvSpPr>
        <p:spPr>
          <a:xfrm>
            <a:off x="895350" y="5124450"/>
            <a:ext cx="2428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0"/>
                </a:solidFill>
              </a:defRPr>
            </a:pPr>
            <a:r>
              <a:rPr sz="1350" b="1">
                <a:solidFill>
                  <a:srgbClr val="F4F4F0"/>
                </a:solidFill>
                <a:latin typeface="Consolas"/>
                <a:ea typeface="Consolas"/>
                <a:cs typeface="Consolas"/>
              </a:rPr>
              <a:t>RECENSIONE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85BFC9-BFCF-4A29-B280-A32C508A647B}"/>
              </a:ext>
            </a:extLst>
          </p:cNvPr>
          <p:cNvSpPr>
            <a:spLocks noGrp="1"/>
          </p:cNvSpPr>
          <p:nvPr/>
        </p:nvSpPr>
        <p:spPr>
          <a:xfrm>
            <a:off x="3429000" y="5124450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38" b="0">
                <a:solidFill>
                  <a:srgbClr val="FFFFFF"/>
                </a:solidFill>
              </a:defRPr>
            </a:pPr>
            <a:r>
              <a:rPr lang="it-IT"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MAIL</a:t>
            </a:r>
            <a:r>
              <a:rPr lang="it-IT"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_Studente: UTENTE (MAIL)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38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NOME_Mensa</a:t>
            </a:r>
            <a:r>
              <a:rPr lang="it-IT"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 MENSA (NOME)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data, </a:t>
            </a:r>
            <a:r>
              <a:rPr sz="1238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voto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38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commento</a:t>
            </a:r>
            <a:r>
              <a:rPr lang="it-IT"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  <a:endParaRPr sz="1238" b="0" dirty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0B54E5-768E-4A3A-911C-8BA1571BC5A6}"/>
              </a:ext>
            </a:extLst>
          </p:cNvPr>
          <p:cNvSpPr>
            <a:spLocks noGrp="1"/>
          </p:cNvSpPr>
          <p:nvPr/>
        </p:nvSpPr>
        <p:spPr>
          <a:xfrm>
            <a:off x="895350" y="5657850"/>
            <a:ext cx="2428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0"/>
                </a:solidFill>
              </a:defRPr>
            </a:pPr>
            <a:r>
              <a:rPr sz="1350" b="1">
                <a:solidFill>
                  <a:srgbClr val="F4F4F0"/>
                </a:solidFill>
                <a:latin typeface="Consolas"/>
                <a:ea typeface="Consolas"/>
                <a:cs typeface="Consolas"/>
              </a:rPr>
              <a:t>CONTENUTO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8D607D-7E67-40C7-84F5-1DF9BD1BFCC9}"/>
              </a:ext>
            </a:extLst>
          </p:cNvPr>
          <p:cNvSpPr>
            <a:spLocks noGrp="1"/>
          </p:cNvSpPr>
          <p:nvPr/>
        </p:nvSpPr>
        <p:spPr>
          <a:xfrm>
            <a:off x="3429000" y="5657850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38" b="0">
                <a:solidFill>
                  <a:srgbClr val="FFFFFF"/>
                </a:solidFill>
              </a:defRPr>
            </a:pPr>
            <a:r>
              <a:rPr lang="it-IT"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38" b="0" u="sng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Nome_prodotto</a:t>
            </a:r>
            <a:r>
              <a:rPr lang="it-IT"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 PRODOTTO_ALIMENTARE(NOME)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38" b="0" u="sng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Nome_allergene</a:t>
            </a:r>
            <a:r>
              <a:rPr lang="it-IT"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 ALLERGENE(NOME))</a:t>
            </a:r>
            <a:endParaRPr sz="1238" b="0" dirty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971380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26FAD771-06B5-4CEC-9C6E-08F3FE07E7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D9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5B209-4765-412E-8E2F-EDD252836BEC}"/>
              </a:ext>
            </a:extLst>
          </p:cNvPr>
          <p:cNvSpPr>
            <a:spLocks noGrp="1"/>
          </p:cNvSpPr>
          <p:nvPr/>
        </p:nvSpPr>
        <p:spPr>
          <a:xfrm>
            <a:off x="419100" y="0"/>
            <a:ext cx="76200" cy="6858000"/>
          </a:xfrm>
          <a:prstGeom prst="rect">
            <a:avLst/>
          </a:prstGeom>
          <a:solidFill>
            <a:srgbClr val="C5D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19E62-C876-4CFB-9F27-65CA97DC2C4D}"/>
              </a:ext>
            </a:extLst>
          </p:cNvPr>
          <p:cNvSpPr>
            <a:spLocks noGrp="1"/>
          </p:cNvSpPr>
          <p:nvPr/>
        </p:nvSpPr>
        <p:spPr>
          <a:xfrm>
            <a:off x="11001375" y="0"/>
            <a:ext cx="1190624" cy="6858000"/>
          </a:xfrm>
          <a:prstGeom prst="rect">
            <a:avLst/>
          </a:prstGeom>
          <a:solidFill>
            <a:srgbClr val="ECE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232B0F-A417-4805-955D-CAF01AB11DD2}"/>
              </a:ext>
            </a:extLst>
          </p:cNvPr>
          <p:cNvSpPr>
            <a:spLocks noGrp="1"/>
          </p:cNvSpPr>
          <p:nvPr/>
        </p:nvSpPr>
        <p:spPr>
          <a:xfrm>
            <a:off x="11257190" y="378279"/>
            <a:ext cx="7429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A67F1F-37C5-4273-811F-40347EEB78C5}"/>
              </a:ext>
            </a:extLst>
          </p:cNvPr>
          <p:cNvSpPr>
            <a:spLocks noGrp="1"/>
          </p:cNvSpPr>
          <p:nvPr/>
        </p:nvSpPr>
        <p:spPr>
          <a:xfrm>
            <a:off x="11257190" y="511629"/>
            <a:ext cx="5143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D2CBDA-5DD9-4813-8792-5992B9A07BBA}"/>
              </a:ext>
            </a:extLst>
          </p:cNvPr>
          <p:cNvSpPr>
            <a:spLocks noGrp="1"/>
          </p:cNvSpPr>
          <p:nvPr/>
        </p:nvSpPr>
        <p:spPr>
          <a:xfrm>
            <a:off x="11257190" y="644979"/>
            <a:ext cx="26670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6450D6-B2E3-465A-9575-38C2619DB5FC}"/>
              </a:ext>
            </a:extLst>
          </p:cNvPr>
          <p:cNvSpPr>
            <a:spLocks noGrp="1"/>
          </p:cNvSpPr>
          <p:nvPr/>
        </p:nvSpPr>
        <p:spPr>
          <a:xfrm>
            <a:off x="1066800" y="209550"/>
            <a:ext cx="8572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273138"/>
                </a:solidFill>
              </a:defRPr>
            </a:pPr>
            <a:r>
              <a:rPr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Vincoli </a:t>
            </a:r>
            <a:r>
              <a:rPr lang="it-IT"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INTER-RELAZIONALI</a:t>
            </a:r>
            <a:endParaRPr sz="285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472E58-38FE-4EFC-B8EC-EE5D18341800}"/>
              </a:ext>
            </a:extLst>
          </p:cNvPr>
          <p:cNvSpPr>
            <a:spLocks noGrp="1"/>
          </p:cNvSpPr>
          <p:nvPr/>
        </p:nvSpPr>
        <p:spPr>
          <a:xfrm>
            <a:off x="7810500" y="6248400"/>
            <a:ext cx="2619375" cy="38100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33A7F2-5485-4940-B673-0837C3B009E9}"/>
              </a:ext>
            </a:extLst>
          </p:cNvPr>
          <p:cNvSpPr>
            <a:spLocks noGrp="1"/>
          </p:cNvSpPr>
          <p:nvPr/>
        </p:nvSpPr>
        <p:spPr>
          <a:xfrm>
            <a:off x="1266825" y="1219200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7B4E58"/>
                </a:solidFill>
              </a:defRPr>
            </a:pPr>
            <a:r>
              <a:rPr lang="it-IT" sz="1425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Identità e ruoli</a:t>
            </a:r>
            <a:endParaRPr sz="1425" b="1" dirty="0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01F1E5-B663-444C-BB4F-E8A1557A5676}"/>
              </a:ext>
            </a:extLst>
          </p:cNvPr>
          <p:cNvSpPr>
            <a:spLocks noGrp="1"/>
          </p:cNvSpPr>
          <p:nvPr/>
        </p:nvSpPr>
        <p:spPr>
          <a:xfrm>
            <a:off x="1266825" y="180975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7B4E58"/>
                </a:solidFill>
              </a:defRPr>
            </a:pP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FA417E-2A37-42A3-8757-9393F01CCF75}"/>
              </a:ext>
            </a:extLst>
          </p:cNvPr>
          <p:cNvSpPr>
            <a:spLocks noGrp="1"/>
          </p:cNvSpPr>
          <p:nvPr/>
        </p:nvSpPr>
        <p:spPr>
          <a:xfrm>
            <a:off x="1581150" y="179070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125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MAIL identifica univocamente ogni utente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3A302F-B377-416B-B369-CC4F7D6751AC}"/>
              </a:ext>
            </a:extLst>
          </p:cNvPr>
          <p:cNvSpPr>
            <a:spLocks noGrp="1"/>
          </p:cNvSpPr>
          <p:nvPr/>
        </p:nvSpPr>
        <p:spPr>
          <a:xfrm>
            <a:off x="1266825" y="2524125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7B4E58"/>
                </a:solidFill>
              </a:defRPr>
            </a:pP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1971B3-D6DB-4919-A8ED-AE18A153336A}"/>
              </a:ext>
            </a:extLst>
          </p:cNvPr>
          <p:cNvSpPr>
            <a:spLocks noGrp="1"/>
          </p:cNvSpPr>
          <p:nvPr/>
        </p:nvSpPr>
        <p:spPr>
          <a:xfrm>
            <a:off x="1581150" y="2505075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125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ruolo assume solo valori previsti dal progetto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FB5248-851E-4E72-9D55-153C78DAB092}"/>
              </a:ext>
            </a:extLst>
          </p:cNvPr>
          <p:cNvSpPr>
            <a:spLocks noGrp="1"/>
          </p:cNvSpPr>
          <p:nvPr/>
        </p:nvSpPr>
        <p:spPr>
          <a:xfrm>
            <a:off x="1266825" y="32385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7B4E58"/>
                </a:solidFill>
              </a:defRPr>
            </a:pP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AACFED-8D7A-4054-A552-A62C6F86745E}"/>
              </a:ext>
            </a:extLst>
          </p:cNvPr>
          <p:cNvSpPr>
            <a:spLocks noGrp="1"/>
          </p:cNvSpPr>
          <p:nvPr/>
        </p:nvSpPr>
        <p:spPr>
          <a:xfrm>
            <a:off x="1581150" y="321945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125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operatore_mensa assegnato al massimo a una mensa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B8A045-3EE4-4A4D-AA22-6C2975E5A098}"/>
              </a:ext>
            </a:extLst>
          </p:cNvPr>
          <p:cNvSpPr>
            <a:spLocks noGrp="1"/>
          </p:cNvSpPr>
          <p:nvPr/>
        </p:nvSpPr>
        <p:spPr>
          <a:xfrm>
            <a:off x="1266825" y="3952875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7B4E58"/>
                </a:solidFill>
              </a:defRPr>
            </a:pP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DCA911-3F64-44D0-831D-DEF3EE51B884}"/>
              </a:ext>
            </a:extLst>
          </p:cNvPr>
          <p:cNvSpPr>
            <a:spLocks noGrp="1"/>
          </p:cNvSpPr>
          <p:nvPr/>
        </p:nvSpPr>
        <p:spPr>
          <a:xfrm>
            <a:off x="1581150" y="3933825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12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prenotazione</a:t>
            </a:r>
            <a:r>
              <a:rPr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e recensione </a:t>
            </a:r>
            <a:r>
              <a:rPr sz="112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fatt</a:t>
            </a:r>
            <a:r>
              <a:rPr lang="it-IT"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e</a:t>
            </a:r>
            <a:r>
              <a:rPr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da un </a:t>
            </a:r>
            <a:r>
              <a:rPr sz="112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utente</a:t>
            </a:r>
            <a:r>
              <a:rPr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studente</a:t>
            </a:r>
            <a:endParaRPr sz="1125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C89245-CBF0-45D6-A6E3-F97B93F7A38E}"/>
              </a:ext>
            </a:extLst>
          </p:cNvPr>
          <p:cNvSpPr>
            <a:spLocks noGrp="1"/>
          </p:cNvSpPr>
          <p:nvPr/>
        </p:nvSpPr>
        <p:spPr>
          <a:xfrm>
            <a:off x="4695825" y="1219200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6F7C45"/>
                </a:solidFill>
              </a:defRPr>
            </a:pPr>
            <a:r>
              <a:rPr sz="1425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Lotti e </a:t>
            </a:r>
            <a:r>
              <a:rPr sz="1425" b="1" dirty="0" err="1">
                <a:solidFill>
                  <a:srgbClr val="0070C0"/>
                </a:solidFill>
                <a:latin typeface="Arial"/>
                <a:ea typeface="Arial"/>
                <a:cs typeface="Arial"/>
              </a:rPr>
              <a:t>quantit</a:t>
            </a:r>
            <a:r>
              <a:rPr lang="it-IT" sz="1425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à</a:t>
            </a:r>
            <a:endParaRPr sz="1425" b="1" dirty="0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A93DD2-7DA0-47A1-A28D-B8E987E01871}"/>
              </a:ext>
            </a:extLst>
          </p:cNvPr>
          <p:cNvSpPr>
            <a:spLocks noGrp="1"/>
          </p:cNvSpPr>
          <p:nvPr/>
        </p:nvSpPr>
        <p:spPr>
          <a:xfrm>
            <a:off x="4695825" y="1809750"/>
            <a:ext cx="266700" cy="228600"/>
          </a:xfrm>
          <a:prstGeom prst="rect">
            <a:avLst/>
          </a:prstGeom>
          <a:solidFill>
            <a:srgbClr val="0070C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6F7C45"/>
                </a:solidFill>
              </a:defRPr>
            </a:pP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AB1C2A-1D8A-4254-B5BA-0326F323696C}"/>
              </a:ext>
            </a:extLst>
          </p:cNvPr>
          <p:cNvSpPr>
            <a:spLocks noGrp="1"/>
          </p:cNvSpPr>
          <p:nvPr/>
        </p:nvSpPr>
        <p:spPr>
          <a:xfrm>
            <a:off x="5010150" y="179070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125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un lotto appartiene a una sola mensa e a un solo prodotto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9D4FBA-675A-4B98-BCBD-601075C91138}"/>
              </a:ext>
            </a:extLst>
          </p:cNvPr>
          <p:cNvSpPr>
            <a:spLocks noGrp="1"/>
          </p:cNvSpPr>
          <p:nvPr/>
        </p:nvSpPr>
        <p:spPr>
          <a:xfrm>
            <a:off x="4695825" y="2524125"/>
            <a:ext cx="266700" cy="228600"/>
          </a:xfrm>
          <a:prstGeom prst="rect">
            <a:avLst/>
          </a:prstGeom>
          <a:solidFill>
            <a:srgbClr val="0070C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6F7C45"/>
                </a:solidFill>
              </a:defRPr>
            </a:pP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926B6D-C5B9-4C92-8724-44D2AF9B0F86}"/>
              </a:ext>
            </a:extLst>
          </p:cNvPr>
          <p:cNvSpPr>
            <a:spLocks noGrp="1"/>
          </p:cNvSpPr>
          <p:nvPr/>
        </p:nvSpPr>
        <p:spPr>
          <a:xfrm>
            <a:off x="5010150" y="2505075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125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la pubblicazione parte da un operatore mensa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B5C488-9C54-4745-AD02-3631608D6B81}"/>
              </a:ext>
            </a:extLst>
          </p:cNvPr>
          <p:cNvSpPr>
            <a:spLocks noGrp="1"/>
          </p:cNvSpPr>
          <p:nvPr/>
        </p:nvSpPr>
        <p:spPr>
          <a:xfrm>
            <a:off x="4695825" y="3238500"/>
            <a:ext cx="266700" cy="228600"/>
          </a:xfrm>
          <a:prstGeom prst="rect">
            <a:avLst/>
          </a:prstGeom>
          <a:solidFill>
            <a:srgbClr val="0070C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6F7C45"/>
                </a:solidFill>
              </a:defRPr>
            </a:pP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A233C9-1C83-44DF-BFDC-32B283AACAB9}"/>
              </a:ext>
            </a:extLst>
          </p:cNvPr>
          <p:cNvSpPr>
            <a:spLocks noGrp="1"/>
          </p:cNvSpPr>
          <p:nvPr/>
        </p:nvSpPr>
        <p:spPr>
          <a:xfrm>
            <a:off x="5010150" y="321945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125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Q_disponibile resta tra 0 e Q_iniziale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062AB4-14DA-4E0A-9787-EAECA6C39E47}"/>
              </a:ext>
            </a:extLst>
          </p:cNvPr>
          <p:cNvSpPr>
            <a:spLocks noGrp="1"/>
          </p:cNvSpPr>
          <p:nvPr/>
        </p:nvSpPr>
        <p:spPr>
          <a:xfrm>
            <a:off x="4695825" y="3952875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6F7C45"/>
                </a:solidFill>
              </a:defRPr>
            </a:pP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9384EC-61CC-4A7C-9AB2-BB4BB5C21AB1}"/>
              </a:ext>
            </a:extLst>
          </p:cNvPr>
          <p:cNvSpPr>
            <a:spLocks noGrp="1"/>
          </p:cNvSpPr>
          <p:nvPr/>
        </p:nvSpPr>
        <p:spPr>
          <a:xfrm>
            <a:off x="5010150" y="3933825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125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quantita prenotata positiva e non maggiore di Q_disponibile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1E3D2D-1578-4DFE-AAF3-DE4C6D935936}"/>
              </a:ext>
            </a:extLst>
          </p:cNvPr>
          <p:cNvSpPr>
            <a:spLocks noGrp="1"/>
          </p:cNvSpPr>
          <p:nvPr/>
        </p:nvSpPr>
        <p:spPr>
          <a:xfrm>
            <a:off x="8124825" y="1219200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315F73"/>
                </a:solidFill>
              </a:defRPr>
            </a:pPr>
            <a:r>
              <a:rPr sz="1425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Op</a:t>
            </a:r>
            <a:r>
              <a:rPr lang="it-IT" sz="1425" b="1" dirty="0" err="1">
                <a:solidFill>
                  <a:srgbClr val="0070C0"/>
                </a:solidFill>
                <a:latin typeface="Arial"/>
                <a:ea typeface="Arial"/>
                <a:cs typeface="Arial"/>
              </a:rPr>
              <a:t>erazioni</a:t>
            </a:r>
            <a:r>
              <a:rPr lang="it-IT" sz="1425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 ammesse</a:t>
            </a:r>
            <a:endParaRPr sz="1425" b="1" dirty="0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6E22DC-0E10-4F06-8582-C59993D0BB0A}"/>
              </a:ext>
            </a:extLst>
          </p:cNvPr>
          <p:cNvSpPr>
            <a:spLocks noGrp="1"/>
          </p:cNvSpPr>
          <p:nvPr/>
        </p:nvSpPr>
        <p:spPr>
          <a:xfrm>
            <a:off x="8124825" y="180975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315F73"/>
                </a:solidFill>
              </a:defRPr>
            </a:pPr>
            <a:r>
              <a:rPr sz="1125" b="1">
                <a:solidFill>
                  <a:srgbClr val="315F73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DCF531-AD7C-4FA5-9741-3E4CCEB682E8}"/>
              </a:ext>
            </a:extLst>
          </p:cNvPr>
          <p:cNvSpPr>
            <a:spLocks noGrp="1"/>
          </p:cNvSpPr>
          <p:nvPr/>
        </p:nvSpPr>
        <p:spPr>
          <a:xfrm>
            <a:off x="8439150" y="179070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lang="it-IT" sz="1125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Annullamento di una prenotazione da parte di uno studente restituisce la quantità prenotata</a:t>
            </a:r>
            <a:endParaRPr sz="1125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734419-4808-432C-8165-B440BAB31B95}"/>
              </a:ext>
            </a:extLst>
          </p:cNvPr>
          <p:cNvSpPr>
            <a:spLocks noGrp="1"/>
          </p:cNvSpPr>
          <p:nvPr/>
        </p:nvSpPr>
        <p:spPr>
          <a:xfrm>
            <a:off x="8124825" y="2524125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315F73"/>
                </a:solidFill>
              </a:defRPr>
            </a:pPr>
            <a:r>
              <a:rPr sz="1125" b="1">
                <a:solidFill>
                  <a:srgbClr val="315F73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4E6F22-6BB7-4C70-A505-179B45C2CF2E}"/>
              </a:ext>
            </a:extLst>
          </p:cNvPr>
          <p:cNvSpPr>
            <a:spLocks noGrp="1"/>
          </p:cNvSpPr>
          <p:nvPr/>
        </p:nvSpPr>
        <p:spPr>
          <a:xfrm>
            <a:off x="8439150" y="2505075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la </a:t>
            </a:r>
            <a:r>
              <a:rPr sz="112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prenotazione</a:t>
            </a:r>
            <a:r>
              <a:rPr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diminuisce</a:t>
            </a:r>
            <a:r>
              <a:rPr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Q_disponibile</a:t>
            </a:r>
            <a:r>
              <a:rPr lang="it-IT"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di </a:t>
            </a:r>
            <a:r>
              <a:rPr lang="it-IT" sz="112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q_prenotata</a:t>
            </a:r>
            <a:endParaRPr sz="1125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58C3F44-E872-4F22-819F-71EA0443EC65}"/>
              </a:ext>
            </a:extLst>
          </p:cNvPr>
          <p:cNvSpPr>
            <a:spLocks noGrp="1"/>
          </p:cNvSpPr>
          <p:nvPr/>
        </p:nvSpPr>
        <p:spPr>
          <a:xfrm>
            <a:off x="8124825" y="32385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315F73"/>
                </a:solidFill>
              </a:defRPr>
            </a:pPr>
            <a:r>
              <a:rPr sz="1125" b="1">
                <a:solidFill>
                  <a:srgbClr val="315F73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485F12-6E48-4B02-95AE-B71AA9BD124C}"/>
              </a:ext>
            </a:extLst>
          </p:cNvPr>
          <p:cNvSpPr>
            <a:spLocks noGrp="1"/>
          </p:cNvSpPr>
          <p:nvPr/>
        </p:nvSpPr>
        <p:spPr>
          <a:xfrm>
            <a:off x="8439150" y="321945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12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recensione</a:t>
            </a:r>
            <a:r>
              <a:rPr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da </a:t>
            </a:r>
            <a:r>
              <a:rPr sz="112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studente</a:t>
            </a:r>
            <a:r>
              <a:rPr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solo di un lotto ritirato e quindi confermato da operatore</a:t>
            </a:r>
            <a:endParaRPr sz="1125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BBB63B1-5528-4761-BBFD-620238F11A37}"/>
              </a:ext>
            </a:extLst>
          </p:cNvPr>
          <p:cNvSpPr>
            <a:spLocks noGrp="1"/>
          </p:cNvSpPr>
          <p:nvPr/>
        </p:nvSpPr>
        <p:spPr>
          <a:xfrm>
            <a:off x="8124825" y="3952875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315F73"/>
                </a:solidFill>
              </a:defRPr>
            </a:pPr>
            <a:r>
              <a:rPr sz="1125" b="1" dirty="0">
                <a:solidFill>
                  <a:srgbClr val="315F73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722336-5969-4C08-883F-310D51462494}"/>
              </a:ext>
            </a:extLst>
          </p:cNvPr>
          <p:cNvSpPr>
            <a:spLocks noGrp="1"/>
          </p:cNvSpPr>
          <p:nvPr/>
        </p:nvSpPr>
        <p:spPr>
          <a:xfrm>
            <a:off x="8439150" y="3933825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lang="it-IT"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coppia prodotto-allergene unica in CONTENUTO</a:t>
            </a:r>
            <a:endParaRPr sz="1125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07E22E-1DE4-A817-9BF9-EC29AE386337}"/>
              </a:ext>
            </a:extLst>
          </p:cNvPr>
          <p:cNvSpPr>
            <a:spLocks noGrp="1"/>
          </p:cNvSpPr>
          <p:nvPr/>
        </p:nvSpPr>
        <p:spPr>
          <a:xfrm>
            <a:off x="1266825" y="46863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7B4E58"/>
                </a:solidFill>
              </a:defRPr>
            </a:pPr>
            <a:r>
              <a:rPr lang="it-IT"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5</a:t>
            </a: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1C29AE-0DEC-EA01-123A-55E2DD69BD9C}"/>
              </a:ext>
            </a:extLst>
          </p:cNvPr>
          <p:cNvSpPr>
            <a:spLocks noGrp="1"/>
          </p:cNvSpPr>
          <p:nvPr/>
        </p:nvSpPr>
        <p:spPr>
          <a:xfrm>
            <a:off x="1581150" y="466725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lang="it-IT"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Pubblicazione e conferma ritiro lotto fatta da un utente operatore</a:t>
            </a:r>
            <a:endParaRPr sz="1125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3351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37E14E7-B54F-42A5-AD9A-E83448B252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0020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24DFFF-FF11-4FA4-B29B-E6C82E261EE8}"/>
              </a:ext>
            </a:extLst>
          </p:cNvPr>
          <p:cNvSpPr>
            <a:spLocks noGrp="1"/>
          </p:cNvSpPr>
          <p:nvPr/>
        </p:nvSpPr>
        <p:spPr>
          <a:xfrm>
            <a:off x="10810875" y="400050"/>
            <a:ext cx="7429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3E065D-9D1F-46B2-9E16-0C241AFFA777}"/>
              </a:ext>
            </a:extLst>
          </p:cNvPr>
          <p:cNvSpPr>
            <a:spLocks noGrp="1"/>
          </p:cNvSpPr>
          <p:nvPr/>
        </p:nvSpPr>
        <p:spPr>
          <a:xfrm>
            <a:off x="10810875" y="533400"/>
            <a:ext cx="5143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20828A-470F-4556-B509-B51F48939589}"/>
              </a:ext>
            </a:extLst>
          </p:cNvPr>
          <p:cNvSpPr>
            <a:spLocks noGrp="1"/>
          </p:cNvSpPr>
          <p:nvPr/>
        </p:nvSpPr>
        <p:spPr>
          <a:xfrm>
            <a:off x="10810875" y="666750"/>
            <a:ext cx="26670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3C237-95AF-449D-8FBC-1D475A9BBFDE}"/>
              </a:ext>
            </a:extLst>
          </p:cNvPr>
          <p:cNvSpPr>
            <a:spLocks noGrp="1"/>
          </p:cNvSpPr>
          <p:nvPr/>
        </p:nvSpPr>
        <p:spPr>
          <a:xfrm>
            <a:off x="1066800" y="209550"/>
            <a:ext cx="8572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273138"/>
                </a:solidFill>
              </a:defRPr>
            </a:pPr>
            <a:r>
              <a:rPr lang="it-IT"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FUNZIONALITA’ </a:t>
            </a:r>
            <a:r>
              <a:rPr sz="285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sito</a:t>
            </a:r>
            <a:r>
              <a:rPr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web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464CF5-B01B-47CC-A997-FB7CD7005E79}"/>
              </a:ext>
            </a:extLst>
          </p:cNvPr>
          <p:cNvSpPr>
            <a:spLocks noGrp="1"/>
          </p:cNvSpPr>
          <p:nvPr/>
        </p:nvSpPr>
        <p:spPr>
          <a:xfrm>
            <a:off x="7810500" y="6248400"/>
            <a:ext cx="2619375" cy="38100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BF1421-A362-45CB-8962-1712FD2E4419}"/>
              </a:ext>
            </a:extLst>
          </p:cNvPr>
          <p:cNvSpPr>
            <a:spLocks noGrp="1"/>
          </p:cNvSpPr>
          <p:nvPr/>
        </p:nvSpPr>
        <p:spPr>
          <a:xfrm>
            <a:off x="1143000" y="1123950"/>
            <a:ext cx="9144000" cy="3143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Il sito web deve distinguere tra due categorie principali di utenti: studente e operatore mensa.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Lo studente deve poter visualizzare, filtrare e prenotare un lotto </a:t>
            </a:r>
            <a:r>
              <a:rPr lang="it-IT" dirty="0" err="1"/>
              <a:t>disponbile</a:t>
            </a:r>
            <a:r>
              <a:rPr lang="it-IT" dirty="0"/>
              <a:t>, annullare una prenotazione ancora attiva e poter consultare le sue prenotazioni effettuate, inserire una recensione collegata alla mensa solo dopo il ritiro di un lotto e infine visionare le recensioni di tutte le mense.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L'operatore deve pubblicare lotti per la mense a cui è assegnato, modificarli, chiuderli, visualizzare ritiri da confermare e segnare un ritiro come RITIRATO.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Il sistema deve impedire prenotazioni su lotti scaduti, chiusi o con quantità richiesta maggiore di quella rimasta.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Il sistema deve applicare controlli di sicurezza su login e password, limitando i tentativi ripetuti di brute force sulle credenziali.</a:t>
            </a:r>
          </a:p>
        </p:txBody>
      </p:sp>
    </p:spTree>
    <p:extLst>
      <p:ext uri="{BB962C8B-B14F-4D97-AF65-F5344CB8AC3E}">
        <p14:creationId xmlns:p14="http://schemas.microsoft.com/office/powerpoint/2010/main" val="2086878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98CAD1-5BE6-42A6-8DF6-FCF8CAEC8F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0020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43D503-505B-4D8C-879F-543A8DF52774}"/>
              </a:ext>
            </a:extLst>
          </p:cNvPr>
          <p:cNvSpPr>
            <a:spLocks noGrp="1"/>
          </p:cNvSpPr>
          <p:nvPr/>
        </p:nvSpPr>
        <p:spPr>
          <a:xfrm>
            <a:off x="10810875" y="400050"/>
            <a:ext cx="7429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B3CC40-1908-4A2F-9D6B-62CE55BFDDBF}"/>
              </a:ext>
            </a:extLst>
          </p:cNvPr>
          <p:cNvSpPr>
            <a:spLocks noGrp="1"/>
          </p:cNvSpPr>
          <p:nvPr/>
        </p:nvSpPr>
        <p:spPr>
          <a:xfrm>
            <a:off x="10810875" y="533400"/>
            <a:ext cx="5143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C0844A-05D8-4002-BB10-A79413AC61F2}"/>
              </a:ext>
            </a:extLst>
          </p:cNvPr>
          <p:cNvSpPr>
            <a:spLocks noGrp="1"/>
          </p:cNvSpPr>
          <p:nvPr/>
        </p:nvSpPr>
        <p:spPr>
          <a:xfrm>
            <a:off x="10810875" y="666750"/>
            <a:ext cx="26670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A04478-1C18-45B6-ABCE-3F1DBDF62254}"/>
              </a:ext>
            </a:extLst>
          </p:cNvPr>
          <p:cNvSpPr>
            <a:spLocks noGrp="1"/>
          </p:cNvSpPr>
          <p:nvPr/>
        </p:nvSpPr>
        <p:spPr>
          <a:xfrm>
            <a:off x="1066800" y="209550"/>
            <a:ext cx="8572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273138"/>
                </a:solidFill>
              </a:defRPr>
            </a:pPr>
            <a:r>
              <a:rPr sz="2850" b="1">
                <a:solidFill>
                  <a:srgbClr val="273138"/>
                </a:solidFill>
                <a:latin typeface="Arial"/>
                <a:ea typeface="Arial"/>
                <a:cs typeface="Arial"/>
              </a:rPr>
              <a:t>Permessi per ruolo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B6F9B1-F88E-474F-A5AD-F301A760E9E1}"/>
              </a:ext>
            </a:extLst>
          </p:cNvPr>
          <p:cNvSpPr>
            <a:spLocks noGrp="1"/>
          </p:cNvSpPr>
          <p:nvPr/>
        </p:nvSpPr>
        <p:spPr>
          <a:xfrm>
            <a:off x="7810500" y="6248400"/>
            <a:ext cx="2619375" cy="38100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18" name="Table 17"/>
          <p:cNvGraphicFramePr/>
          <p:nvPr>
            <p:extLst>
              <p:ext uri="{D42A27DB-BD31-4B8C-83A1-F6EECF244321}">
                <p14:modId xmlns:p14="http://schemas.microsoft.com/office/powerpoint/2010/main" val="770678325"/>
              </p:ext>
            </p:extLst>
          </p:nvPr>
        </p:nvGraphicFramePr>
        <p:xfrm>
          <a:off x="1608667" y="1381125"/>
          <a:ext cx="8440209" cy="3290208"/>
        </p:xfrm>
        <a:graphic>
          <a:graphicData uri="http://schemas.openxmlformats.org/drawingml/2006/table">
            <a:tbl>
              <a:tblPr/>
              <a:tblGrid>
                <a:gridCol w="3751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4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4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368">
                <a:tc>
                  <a:txBody>
                    <a:bodyPr/>
                    <a:lstStyle/>
                    <a:p>
                      <a:r>
                        <a:rPr sz="1050" b="1" dirty="0" err="1">
                          <a:solidFill>
                            <a:srgbClr val="FFFFFF"/>
                          </a:solidFill>
                        </a:rPr>
                        <a:t>Funzion</a:t>
                      </a:r>
                      <a:r>
                        <a:rPr lang="it-IT" sz="1050" b="1" dirty="0">
                          <a:solidFill>
                            <a:srgbClr val="FFFFFF"/>
                          </a:solidFill>
                        </a:rPr>
                        <a:t>e</a:t>
                      </a:r>
                      <a:endParaRPr sz="105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Student</a:t>
                      </a:r>
                      <a:r>
                        <a:rPr lang="it-IT" sz="1050" b="1" dirty="0">
                          <a:solidFill>
                            <a:srgbClr val="FFFFFF"/>
                          </a:solidFill>
                        </a:rPr>
                        <a:t>e</a:t>
                      </a:r>
                      <a:endParaRPr sz="105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Operator</a:t>
                      </a:r>
                      <a:r>
                        <a:rPr lang="it-IT" sz="1050" b="1" dirty="0">
                          <a:solidFill>
                            <a:srgbClr val="FFFFFF"/>
                          </a:solidFill>
                        </a:rPr>
                        <a:t>e</a:t>
                      </a:r>
                      <a:endParaRPr sz="105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36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Consultare lotti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si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si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36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Prenotare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si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no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36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Pubblicare lotti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no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si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36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Confermare ritiro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no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si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368">
                <a:tc>
                  <a:txBody>
                    <a:bodyPr/>
                    <a:lstStyle/>
                    <a:p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Recensioni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mense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scrive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legge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indirettamente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140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6703E9A-B68E-2904-5B4B-D9CDB49D2499}"/>
              </a:ext>
            </a:extLst>
          </p:cNvPr>
          <p:cNvSpPr>
            <a:spLocks noGrp="1"/>
          </p:cNvSpPr>
          <p:nvPr/>
        </p:nvSpPr>
        <p:spPr>
          <a:xfrm>
            <a:off x="11601450" y="0"/>
            <a:ext cx="571500" cy="6858000"/>
          </a:xfrm>
          <a:prstGeom prst="rect">
            <a:avLst/>
          </a:prstGeom>
          <a:solidFill>
            <a:srgbClr val="0020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27138D-D0E6-4177-B05B-30F1335A0E15}"/>
              </a:ext>
            </a:extLst>
          </p:cNvPr>
          <p:cNvSpPr>
            <a:spLocks noGrp="1"/>
          </p:cNvSpPr>
          <p:nvPr/>
        </p:nvSpPr>
        <p:spPr>
          <a:xfrm>
            <a:off x="483521" y="122465"/>
            <a:ext cx="8572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273138"/>
                </a:solidFill>
              </a:defRPr>
            </a:pPr>
            <a:r>
              <a:rPr sz="2850" b="1">
                <a:solidFill>
                  <a:srgbClr val="273138"/>
                </a:solidFill>
                <a:latin typeface="Arial"/>
                <a:ea typeface="Arial"/>
                <a:cs typeface="Arial"/>
              </a:rPr>
              <a:t>Area operatore mensa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1B98A6-35C8-414C-88A2-8ED337448343}"/>
              </a:ext>
            </a:extLst>
          </p:cNvPr>
          <p:cNvSpPr>
            <a:spLocks noGrp="1"/>
          </p:cNvSpPr>
          <p:nvPr/>
        </p:nvSpPr>
        <p:spPr>
          <a:xfrm>
            <a:off x="8982075" y="6332528"/>
            <a:ext cx="2619375" cy="38100"/>
          </a:xfrm>
          <a:prstGeom prst="rect">
            <a:avLst/>
          </a:prstGeom>
          <a:solidFill>
            <a:srgbClr val="00B0F0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555E83-AF54-4B83-AE45-78DB2721214E}"/>
              </a:ext>
            </a:extLst>
          </p:cNvPr>
          <p:cNvSpPr>
            <a:spLocks noGrp="1"/>
          </p:cNvSpPr>
          <p:nvPr/>
        </p:nvSpPr>
        <p:spPr>
          <a:xfrm>
            <a:off x="407321" y="720424"/>
            <a:ext cx="6572250" cy="111170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t"/>
          <a:lstStyle/>
          <a:p>
            <a:pPr algn="l">
              <a:defRPr sz="1275" b="0">
                <a:solidFill>
                  <a:srgbClr val="273138"/>
                </a:solidFill>
              </a:defRPr>
            </a:pPr>
            <a:r>
              <a:rPr sz="127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L</a:t>
            </a:r>
            <a:r>
              <a:rPr lang="it-IT" sz="127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’Operatore </a:t>
            </a:r>
            <a:r>
              <a:rPr sz="127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Pu</a:t>
            </a:r>
            <a:r>
              <a:rPr lang="it-IT" sz="127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ò</a:t>
            </a:r>
            <a:r>
              <a:rPr sz="127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pubblicare</a:t>
            </a:r>
            <a:r>
              <a:rPr sz="127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lotti</a:t>
            </a:r>
            <a:r>
              <a:rPr sz="127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sz="1275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273138"/>
                </a:solidFill>
              </a:defRPr>
            </a:pPr>
            <a:r>
              <a:rPr sz="127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Pu</a:t>
            </a:r>
            <a:r>
              <a:rPr lang="it-IT" sz="127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ò</a:t>
            </a:r>
            <a:r>
              <a:rPr sz="127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275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confermare il ritiro di un ordine. </a:t>
            </a:r>
          </a:p>
          <a:p>
            <a:pPr algn="l">
              <a:defRPr sz="1275" b="0">
                <a:solidFill>
                  <a:srgbClr val="273138"/>
                </a:solidFill>
              </a:defRPr>
            </a:pPr>
            <a:r>
              <a:rPr lang="it-IT" sz="1275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Vede una dashboard con tutti i ritiri completati.</a:t>
            </a:r>
            <a:endParaRPr sz="1275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  <a:p>
            <a:endParaRPr sz="1275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CAAD316-BA3A-E217-6E0D-52D71A805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571" y="487372"/>
            <a:ext cx="4621879" cy="4394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563ECD6-5AD6-E3F6-C4F0-1E42EA245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737" y="4959433"/>
            <a:ext cx="6858000" cy="179243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D95D943-ADEF-AD3E-4828-F2871212D2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321" y="1551215"/>
            <a:ext cx="6249972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04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08DB40-E8E5-4DD8-B31B-3F718999A732}"/>
              </a:ext>
            </a:extLst>
          </p:cNvPr>
          <p:cNvSpPr>
            <a:spLocks noGrp="1"/>
          </p:cNvSpPr>
          <p:nvPr/>
        </p:nvSpPr>
        <p:spPr>
          <a:xfrm>
            <a:off x="11601450" y="0"/>
            <a:ext cx="571500" cy="6858000"/>
          </a:xfrm>
          <a:prstGeom prst="rect">
            <a:avLst/>
          </a:prstGeom>
          <a:solidFill>
            <a:srgbClr val="0020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55559D-ACD7-4670-8704-533CD3529C13}"/>
              </a:ext>
            </a:extLst>
          </p:cNvPr>
          <p:cNvSpPr>
            <a:spLocks noGrp="1"/>
          </p:cNvSpPr>
          <p:nvPr/>
        </p:nvSpPr>
        <p:spPr>
          <a:xfrm>
            <a:off x="10991850" y="419100"/>
            <a:ext cx="7429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2E428E-D7B0-47B7-9D66-C604D0761850}"/>
              </a:ext>
            </a:extLst>
          </p:cNvPr>
          <p:cNvSpPr>
            <a:spLocks noGrp="1"/>
          </p:cNvSpPr>
          <p:nvPr/>
        </p:nvSpPr>
        <p:spPr>
          <a:xfrm>
            <a:off x="10991850" y="552450"/>
            <a:ext cx="5143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F77719-A890-4542-A441-657AF3045617}"/>
              </a:ext>
            </a:extLst>
          </p:cNvPr>
          <p:cNvSpPr>
            <a:spLocks noGrp="1"/>
          </p:cNvSpPr>
          <p:nvPr/>
        </p:nvSpPr>
        <p:spPr>
          <a:xfrm>
            <a:off x="10991850" y="685800"/>
            <a:ext cx="26670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6BD19A-4608-4095-8069-2BC312609C4D}"/>
              </a:ext>
            </a:extLst>
          </p:cNvPr>
          <p:cNvSpPr>
            <a:spLocks noGrp="1"/>
          </p:cNvSpPr>
          <p:nvPr/>
        </p:nvSpPr>
        <p:spPr>
          <a:xfrm>
            <a:off x="3005137" y="-57150"/>
            <a:ext cx="8572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273138"/>
                </a:solidFill>
              </a:defRPr>
            </a:pPr>
            <a:r>
              <a:rPr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Area </a:t>
            </a:r>
            <a:r>
              <a:rPr sz="285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studente</a:t>
            </a:r>
            <a:endParaRPr sz="285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7E6367-1A14-4E5E-882A-2C50364E3C94}"/>
              </a:ext>
            </a:extLst>
          </p:cNvPr>
          <p:cNvSpPr>
            <a:spLocks noGrp="1"/>
          </p:cNvSpPr>
          <p:nvPr/>
        </p:nvSpPr>
        <p:spPr>
          <a:xfrm>
            <a:off x="8958262" y="6362700"/>
            <a:ext cx="2619375" cy="38100"/>
          </a:xfrm>
          <a:prstGeom prst="rect">
            <a:avLst/>
          </a:prstGeom>
          <a:solidFill>
            <a:srgbClr val="002060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01E0BE-B2D0-48DF-9F69-A750DAC7715C}"/>
              </a:ext>
            </a:extLst>
          </p:cNvPr>
          <p:cNvSpPr>
            <a:spLocks noGrp="1"/>
          </p:cNvSpPr>
          <p:nvPr/>
        </p:nvSpPr>
        <p:spPr>
          <a:xfrm>
            <a:off x="6562725" y="0"/>
            <a:ext cx="2524125" cy="1123950"/>
          </a:xfrm>
          <a:prstGeom prst="rect">
            <a:avLst/>
          </a:prstGeom>
          <a:solidFill>
            <a:srgbClr val="FBFBF8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9CA63F-0C79-4F21-890C-818A28403ADD}"/>
              </a:ext>
            </a:extLst>
          </p:cNvPr>
          <p:cNvSpPr>
            <a:spLocks noGrp="1"/>
          </p:cNvSpPr>
          <p:nvPr/>
        </p:nvSpPr>
        <p:spPr>
          <a:xfrm>
            <a:off x="6734175" y="1524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70C0"/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7B4E58"/>
                </a:solidFill>
              </a:defRPr>
            </a:pP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Home/</a:t>
            </a:r>
            <a:r>
              <a:rPr sz="1125" b="1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catalogo</a:t>
            </a:r>
            <a:endParaRPr sz="1125" b="1" dirty="0">
              <a:solidFill>
                <a:srgbClr val="0020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66FD9E-1214-406E-8E90-A008A8684507}"/>
              </a:ext>
            </a:extLst>
          </p:cNvPr>
          <p:cNvSpPr>
            <a:spLocks noGrp="1"/>
          </p:cNvSpPr>
          <p:nvPr/>
        </p:nvSpPr>
        <p:spPr>
          <a:xfrm>
            <a:off x="6734175" y="47625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70C0"/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938" b="0">
                <a:solidFill>
                  <a:srgbClr val="273138"/>
                </a:solidFill>
              </a:defRPr>
            </a:pPr>
            <a:r>
              <a:rPr sz="938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visualizza lotti disponibili con dati utili: mensa, prodotto, orario e quantita rimasta.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F48E7B-A709-4EDD-997E-A9860FAB1903}"/>
              </a:ext>
            </a:extLst>
          </p:cNvPr>
          <p:cNvSpPr>
            <a:spLocks noGrp="1"/>
          </p:cNvSpPr>
          <p:nvPr/>
        </p:nvSpPr>
        <p:spPr>
          <a:xfrm>
            <a:off x="6562725" y="1123950"/>
            <a:ext cx="2524125" cy="1123950"/>
          </a:xfrm>
          <a:prstGeom prst="rect">
            <a:avLst/>
          </a:prstGeom>
          <a:solidFill>
            <a:srgbClr val="FBFBF8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EE63CA-823B-423D-9ED1-104853C63272}"/>
              </a:ext>
            </a:extLst>
          </p:cNvPr>
          <p:cNvSpPr>
            <a:spLocks noGrp="1"/>
          </p:cNvSpPr>
          <p:nvPr/>
        </p:nvSpPr>
        <p:spPr>
          <a:xfrm>
            <a:off x="6734175" y="12763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70C0"/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6F7C45"/>
                </a:solidFill>
              </a:defRPr>
            </a:pPr>
            <a:r>
              <a:rPr sz="1125" b="1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Prenotazione</a:t>
            </a:r>
            <a:endParaRPr sz="1125" b="1" dirty="0">
              <a:solidFill>
                <a:srgbClr val="0020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588CCC-6CF2-4343-AA23-12733BB74881}"/>
              </a:ext>
            </a:extLst>
          </p:cNvPr>
          <p:cNvSpPr>
            <a:spLocks noGrp="1"/>
          </p:cNvSpPr>
          <p:nvPr/>
        </p:nvSpPr>
        <p:spPr>
          <a:xfrm>
            <a:off x="6734175" y="160020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70C0"/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938" b="0">
                <a:solidFill>
                  <a:srgbClr val="273138"/>
                </a:solidFill>
              </a:defRPr>
            </a:pPr>
            <a:r>
              <a:rPr sz="938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inserisce quantita, il sistema controlla stato, scadenza e disponibilita prima di salvare.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6929BA-4FEB-436F-8E7E-3E077586E628}"/>
              </a:ext>
            </a:extLst>
          </p:cNvPr>
          <p:cNvSpPr>
            <a:spLocks noGrp="1"/>
          </p:cNvSpPr>
          <p:nvPr/>
        </p:nvSpPr>
        <p:spPr>
          <a:xfrm>
            <a:off x="9258300" y="0"/>
            <a:ext cx="2524125" cy="1123950"/>
          </a:xfrm>
          <a:prstGeom prst="rect">
            <a:avLst/>
          </a:prstGeom>
          <a:solidFill>
            <a:srgbClr val="FBFBF8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073BA6-89EC-4D48-8C1B-7C62D1A6AB32}"/>
              </a:ext>
            </a:extLst>
          </p:cNvPr>
          <p:cNvSpPr>
            <a:spLocks noGrp="1"/>
          </p:cNvSpPr>
          <p:nvPr/>
        </p:nvSpPr>
        <p:spPr>
          <a:xfrm>
            <a:off x="9429750" y="1524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70C0"/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315F73"/>
                </a:solidFill>
              </a:defRPr>
            </a:pP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Storico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A37612-061F-4BEF-8528-92A6A25E61EB}"/>
              </a:ext>
            </a:extLst>
          </p:cNvPr>
          <p:cNvSpPr>
            <a:spLocks noGrp="1"/>
          </p:cNvSpPr>
          <p:nvPr/>
        </p:nvSpPr>
        <p:spPr>
          <a:xfrm>
            <a:off x="9429750" y="47625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70C0"/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938" b="0">
                <a:solidFill>
                  <a:srgbClr val="273138"/>
                </a:solidFill>
              </a:defRPr>
            </a:pPr>
            <a:r>
              <a:rPr sz="938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consulta prenotazioni attive, ritirate, annullate e non ritirate.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A723C4-AF75-4C8D-B346-269CB083F590}"/>
              </a:ext>
            </a:extLst>
          </p:cNvPr>
          <p:cNvSpPr>
            <a:spLocks noGrp="1"/>
          </p:cNvSpPr>
          <p:nvPr/>
        </p:nvSpPr>
        <p:spPr>
          <a:xfrm>
            <a:off x="9258300" y="1123950"/>
            <a:ext cx="2524125" cy="1123950"/>
          </a:xfrm>
          <a:prstGeom prst="rect">
            <a:avLst/>
          </a:prstGeom>
          <a:solidFill>
            <a:srgbClr val="FBFBF8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2B2A98-E88F-459C-BE56-F2E2C0EDDB4D}"/>
              </a:ext>
            </a:extLst>
          </p:cNvPr>
          <p:cNvSpPr>
            <a:spLocks noGrp="1"/>
          </p:cNvSpPr>
          <p:nvPr/>
        </p:nvSpPr>
        <p:spPr>
          <a:xfrm>
            <a:off x="9429750" y="12763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70C0"/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2C3035"/>
                </a:solidFill>
              </a:defRPr>
            </a:pPr>
            <a:r>
              <a:rPr sz="1125" b="1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Recensioni</a:t>
            </a:r>
            <a:endParaRPr sz="1125" b="1" dirty="0">
              <a:solidFill>
                <a:srgbClr val="0020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DE217A-3A6B-42B5-AA0E-306F2FD4D938}"/>
              </a:ext>
            </a:extLst>
          </p:cNvPr>
          <p:cNvSpPr>
            <a:spLocks noGrp="1"/>
          </p:cNvSpPr>
          <p:nvPr/>
        </p:nvSpPr>
        <p:spPr>
          <a:xfrm>
            <a:off x="9429750" y="160020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70C0"/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938" b="0">
                <a:solidFill>
                  <a:srgbClr val="273138"/>
                </a:solidFill>
              </a:defRPr>
            </a:pPr>
            <a:r>
              <a:rPr sz="938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dopo il ritiro puo lasciare voto e commento sulla mensa.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9217A59-6A9E-2AF1-CB6D-9B20D0C3C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810" y="2343150"/>
            <a:ext cx="6196841" cy="25220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72908DE-0B99-A991-5781-E4B82B68D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64" y="447675"/>
            <a:ext cx="5750946" cy="420052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4CA57D4-AD4A-1CA1-B776-DFB4E8B6F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023" y="4681741"/>
            <a:ext cx="4000173" cy="217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754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962F05A-6716-44EB-8591-A28EF1B16E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D9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7522DF-CD7C-44D0-BF3E-583499CFD964}"/>
              </a:ext>
            </a:extLst>
          </p:cNvPr>
          <p:cNvSpPr>
            <a:spLocks noGrp="1"/>
          </p:cNvSpPr>
          <p:nvPr/>
        </p:nvSpPr>
        <p:spPr>
          <a:xfrm>
            <a:off x="419100" y="0"/>
            <a:ext cx="76200" cy="6858000"/>
          </a:xfrm>
          <a:prstGeom prst="rect">
            <a:avLst/>
          </a:prstGeom>
          <a:solidFill>
            <a:srgbClr val="C5D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097BF5-512D-4582-AB97-DA665EDC3F5A}"/>
              </a:ext>
            </a:extLst>
          </p:cNvPr>
          <p:cNvSpPr>
            <a:spLocks noGrp="1"/>
          </p:cNvSpPr>
          <p:nvPr/>
        </p:nvSpPr>
        <p:spPr>
          <a:xfrm>
            <a:off x="10810875" y="400050"/>
            <a:ext cx="7429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4D6B2C-7284-4C4D-9FBA-009F26A14751}"/>
              </a:ext>
            </a:extLst>
          </p:cNvPr>
          <p:cNvSpPr>
            <a:spLocks noGrp="1"/>
          </p:cNvSpPr>
          <p:nvPr/>
        </p:nvSpPr>
        <p:spPr>
          <a:xfrm>
            <a:off x="10810875" y="533400"/>
            <a:ext cx="5143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E91820-4819-4B0E-9920-9ECDC7973115}"/>
              </a:ext>
            </a:extLst>
          </p:cNvPr>
          <p:cNvSpPr>
            <a:spLocks noGrp="1"/>
          </p:cNvSpPr>
          <p:nvPr/>
        </p:nvSpPr>
        <p:spPr>
          <a:xfrm>
            <a:off x="10810875" y="666750"/>
            <a:ext cx="26670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F684ED-85B4-451C-AA34-7B030A8610B5}"/>
              </a:ext>
            </a:extLst>
          </p:cNvPr>
          <p:cNvSpPr>
            <a:spLocks noGrp="1"/>
          </p:cNvSpPr>
          <p:nvPr/>
        </p:nvSpPr>
        <p:spPr>
          <a:xfrm>
            <a:off x="1066800" y="209550"/>
            <a:ext cx="8572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273138"/>
                </a:solidFill>
              </a:defRPr>
            </a:pPr>
            <a:r>
              <a:rPr lang="it-IT"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POSSIBILI STATI per LOTTO e PRENOTAZIONE</a:t>
            </a:r>
            <a:endParaRPr sz="285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7B6718-D120-42D2-BA68-6309225494CD}"/>
              </a:ext>
            </a:extLst>
          </p:cNvPr>
          <p:cNvSpPr>
            <a:spLocks noGrp="1"/>
          </p:cNvSpPr>
          <p:nvPr/>
        </p:nvSpPr>
        <p:spPr>
          <a:xfrm>
            <a:off x="7810500" y="6248400"/>
            <a:ext cx="2619375" cy="38100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20" name="Table 19"/>
          <p:cNvGraphicFramePr/>
          <p:nvPr>
            <p:extLst>
              <p:ext uri="{D42A27DB-BD31-4B8C-83A1-F6EECF244321}">
                <p14:modId xmlns:p14="http://schemas.microsoft.com/office/powerpoint/2010/main" val="3574968145"/>
              </p:ext>
            </p:extLst>
          </p:nvPr>
        </p:nvGraphicFramePr>
        <p:xfrm>
          <a:off x="1095375" y="1219199"/>
          <a:ext cx="4653492" cy="2895600"/>
        </p:xfrm>
        <a:graphic>
          <a:graphicData uri="http://schemas.openxmlformats.org/drawingml/2006/table">
            <a:tbl>
              <a:tblPr/>
              <a:tblGrid>
                <a:gridCol w="1501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2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Stato lotto</a:t>
                      </a:r>
                    </a:p>
                  </a:txBody>
                  <a:tcPr marL="76200" marR="76200" marT="47625" marB="4762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 err="1">
                          <a:solidFill>
                            <a:srgbClr val="FFFFFF"/>
                          </a:solidFill>
                        </a:rPr>
                        <a:t>Significat</a:t>
                      </a:r>
                      <a:r>
                        <a:rPr lang="it-IT" sz="1050" b="1" dirty="0">
                          <a:solidFill>
                            <a:srgbClr val="FFFFFF"/>
                          </a:solidFill>
                        </a:rPr>
                        <a:t>o</a:t>
                      </a:r>
                      <a:endParaRPr sz="105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disponibile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dirty="0">
                          <a:solidFill>
                            <a:srgbClr val="273138"/>
                          </a:solidFill>
                        </a:rPr>
                        <a:t>lotto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visibile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e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prenotabile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esaurito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quantita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disponibile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arrivata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a zero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chiuso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chiuso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manualmente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dall'operatore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scaduto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dirty="0">
                          <a:solidFill>
                            <a:srgbClr val="273138"/>
                          </a:solidFill>
                        </a:rPr>
                        <a:t>fascia di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ritiro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terminata</a:t>
                      </a:r>
                      <a:r>
                        <a:rPr lang="it-IT" sz="975" dirty="0">
                          <a:solidFill>
                            <a:srgbClr val="273138"/>
                          </a:solidFill>
                        </a:rPr>
                        <a:t> (dal minuto successivo)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/>
          <p:nvPr>
            <p:extLst>
              <p:ext uri="{D42A27DB-BD31-4B8C-83A1-F6EECF244321}">
                <p14:modId xmlns:p14="http://schemas.microsoft.com/office/powerpoint/2010/main" val="2056623555"/>
              </p:ext>
            </p:extLst>
          </p:nvPr>
        </p:nvGraphicFramePr>
        <p:xfrm>
          <a:off x="6443133" y="1219199"/>
          <a:ext cx="4653492" cy="2895600"/>
        </p:xfrm>
        <a:graphic>
          <a:graphicData uri="http://schemas.openxmlformats.org/drawingml/2006/table">
            <a:tbl>
              <a:tblPr/>
              <a:tblGrid>
                <a:gridCol w="1651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2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Stato </a:t>
                      </a:r>
                      <a:r>
                        <a:rPr sz="1050" b="1" dirty="0" err="1">
                          <a:solidFill>
                            <a:srgbClr val="FFFFFF"/>
                          </a:solidFill>
                        </a:rPr>
                        <a:t>prenotazione</a:t>
                      </a:r>
                      <a:endParaRPr sz="105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 err="1">
                          <a:solidFill>
                            <a:srgbClr val="FFFFFF"/>
                          </a:solidFill>
                        </a:rPr>
                        <a:t>Significato</a:t>
                      </a:r>
                      <a:endParaRPr sz="105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attiva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prenotazione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lang="it-IT" sz="975" dirty="0">
                          <a:solidFill>
                            <a:srgbClr val="273138"/>
                          </a:solidFill>
                        </a:rPr>
                        <a:t>ancora valida non conclusa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annullata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annullata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lang="it-IT" sz="975" dirty="0">
                          <a:solidFill>
                            <a:srgbClr val="273138"/>
                          </a:solidFill>
                        </a:rPr>
                        <a:t>dallo studente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ritirata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ritiro confermato dall'operatore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non_ritirata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dirty="0">
                          <a:solidFill>
                            <a:srgbClr val="273138"/>
                          </a:solidFill>
                        </a:rPr>
                        <a:t>fascia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scaduta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senza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ritiro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A194EECA-F03C-46BA-B512-6F696B4FEF47}"/>
              </a:ext>
            </a:extLst>
          </p:cNvPr>
          <p:cNvSpPr>
            <a:spLocks noGrp="1"/>
          </p:cNvSpPr>
          <p:nvPr/>
        </p:nvSpPr>
        <p:spPr>
          <a:xfrm>
            <a:off x="2143125" y="5286375"/>
            <a:ext cx="7905750" cy="361950"/>
          </a:xfrm>
          <a:prstGeom prst="rect">
            <a:avLst/>
          </a:prstGeom>
          <a:solidFill>
            <a:srgbClr val="E7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ctr">
              <a:defRPr sz="1200" b="0">
                <a:solidFill>
                  <a:srgbClr val="273138"/>
                </a:solidFill>
              </a:defRPr>
            </a:pPr>
            <a:r>
              <a:rPr sz="1200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Gli stati non sono etichette grafiche: controllano quali operazioni sono ammesse.</a:t>
            </a:r>
          </a:p>
        </p:txBody>
      </p:sp>
    </p:spTree>
    <p:extLst>
      <p:ext uri="{BB962C8B-B14F-4D97-AF65-F5344CB8AC3E}">
        <p14:creationId xmlns:p14="http://schemas.microsoft.com/office/powerpoint/2010/main" val="710334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ED2EE15-33AC-4240-ABEB-EE643B2AD1AB}"/>
              </a:ext>
            </a:extLst>
          </p:cNvPr>
          <p:cNvSpPr>
            <a:spLocks noGrp="1"/>
          </p:cNvSpPr>
          <p:nvPr/>
        </p:nvSpPr>
        <p:spPr>
          <a:xfrm>
            <a:off x="10620375" y="0"/>
            <a:ext cx="1571625" cy="6858000"/>
          </a:xfrm>
          <a:prstGeom prst="rect">
            <a:avLst/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D2CD91-1451-457C-A2F1-0D1B6230A91D}"/>
              </a:ext>
            </a:extLst>
          </p:cNvPr>
          <p:cNvSpPr>
            <a:spLocks noGrp="1"/>
          </p:cNvSpPr>
          <p:nvPr/>
        </p:nvSpPr>
        <p:spPr>
          <a:xfrm>
            <a:off x="342900" y="933450"/>
            <a:ext cx="257175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AF38C2-BA20-4419-A579-950A642AB2F6}"/>
              </a:ext>
            </a:extLst>
          </p:cNvPr>
          <p:cNvSpPr>
            <a:spLocks noGrp="1"/>
          </p:cNvSpPr>
          <p:nvPr/>
        </p:nvSpPr>
        <p:spPr>
          <a:xfrm>
            <a:off x="10763250" y="400050"/>
            <a:ext cx="7429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B37AE4-97A1-420C-9850-32835A418403}"/>
              </a:ext>
            </a:extLst>
          </p:cNvPr>
          <p:cNvSpPr>
            <a:spLocks noGrp="1"/>
          </p:cNvSpPr>
          <p:nvPr/>
        </p:nvSpPr>
        <p:spPr>
          <a:xfrm>
            <a:off x="10763250" y="533400"/>
            <a:ext cx="5143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4B32B6-5CFE-48A5-AFA0-223252A97578}"/>
              </a:ext>
            </a:extLst>
          </p:cNvPr>
          <p:cNvSpPr>
            <a:spLocks noGrp="1"/>
          </p:cNvSpPr>
          <p:nvPr/>
        </p:nvSpPr>
        <p:spPr>
          <a:xfrm>
            <a:off x="10763250" y="666750"/>
            <a:ext cx="26670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A60820-FACC-4552-BAF5-5A040A4AFF1D}"/>
              </a:ext>
            </a:extLst>
          </p:cNvPr>
          <p:cNvSpPr>
            <a:spLocks noGrp="1"/>
          </p:cNvSpPr>
          <p:nvPr/>
        </p:nvSpPr>
        <p:spPr>
          <a:xfrm>
            <a:off x="342900" y="2095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Attacco brute force sul login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40A1D2-A9CB-4E44-810C-E4D530ED9A95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5810250" cy="2190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Il login </a:t>
            </a:r>
            <a:r>
              <a:rPr lang="it-IT"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è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il punto piu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esposto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del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progetto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 Un brute force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prova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ripetutamente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coppie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di mail e password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finche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trova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credenziali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sz="14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Il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problema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non e solo la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complessit</a:t>
            </a:r>
            <a:r>
              <a:rPr lang="it-IT"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à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della password, ma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quanti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tentativi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il server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lascia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fare. Se non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c'e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un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uno script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continuare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a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inviare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richieste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al form di login.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519286-AB2E-4E9A-AD6D-12C5605899A2}"/>
              </a:ext>
            </a:extLst>
          </p:cNvPr>
          <p:cNvSpPr>
            <a:spLocks noGrp="1"/>
          </p:cNvSpPr>
          <p:nvPr/>
        </p:nvSpPr>
        <p:spPr>
          <a:xfrm>
            <a:off x="6496050" y="1461137"/>
            <a:ext cx="4781550" cy="2790824"/>
          </a:xfrm>
          <a:prstGeom prst="rect">
            <a:avLst/>
          </a:prstGeom>
          <a:solidFill>
            <a:srgbClr val="121B1B"/>
          </a:solidFill>
          <a:ln w="9525">
            <a:solidFill>
              <a:srgbClr val="2732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40F4B0-505E-4093-BAEC-2D45D1EB41F4}"/>
              </a:ext>
            </a:extLst>
          </p:cNvPr>
          <p:cNvSpPr>
            <a:spLocks noGrp="1"/>
          </p:cNvSpPr>
          <p:nvPr/>
        </p:nvSpPr>
        <p:spPr>
          <a:xfrm>
            <a:off x="6674304" y="1610062"/>
            <a:ext cx="4440010" cy="247825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8F3EC"/>
                </a:solidFill>
              </a:defRPr>
            </a:pPr>
            <a:r>
              <a:rPr sz="130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tentativi_al_secondo</a:t>
            </a:r>
            <a:r>
              <a:rPr sz="130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= 1 / </a:t>
            </a:r>
            <a:r>
              <a:rPr sz="130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tempo_medio_richiesta</a:t>
            </a:r>
            <a:endParaRPr sz="1300" b="0" dirty="0">
              <a:solidFill>
                <a:srgbClr val="E8F3EC"/>
              </a:solidFill>
              <a:latin typeface="Consolas"/>
              <a:ea typeface="Consolas"/>
              <a:cs typeface="Consolas"/>
            </a:endParaRPr>
          </a:p>
          <a:p>
            <a:endParaRPr sz="1300" b="0" dirty="0">
              <a:solidFill>
                <a:srgbClr val="E8F3EC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125" b="0">
                <a:solidFill>
                  <a:srgbClr val="E8F3EC"/>
                </a:solidFill>
              </a:defRPr>
            </a:pPr>
            <a:r>
              <a:rPr sz="130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250 </a:t>
            </a:r>
            <a:r>
              <a:rPr sz="130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ms</a:t>
            </a:r>
            <a:r>
              <a:rPr sz="130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per </a:t>
            </a:r>
            <a:r>
              <a:rPr sz="130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richiesta</a:t>
            </a:r>
            <a:r>
              <a:rPr sz="130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 -&gt;  circa 4 </a:t>
            </a:r>
            <a:r>
              <a:rPr sz="130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tentativi</a:t>
            </a:r>
            <a:r>
              <a:rPr sz="130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al secondo</a:t>
            </a:r>
          </a:p>
          <a:p>
            <a:pPr algn="l">
              <a:defRPr sz="1125" b="0">
                <a:solidFill>
                  <a:srgbClr val="E8F3EC"/>
                </a:solidFill>
              </a:defRPr>
            </a:pPr>
            <a:r>
              <a:rPr sz="130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1 </a:t>
            </a:r>
            <a:r>
              <a:rPr sz="130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minuto</a:t>
            </a:r>
            <a:r>
              <a:rPr sz="130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             -&gt;  circa 240 prove</a:t>
            </a:r>
          </a:p>
          <a:p>
            <a:endParaRPr sz="1300" b="0" dirty="0">
              <a:solidFill>
                <a:srgbClr val="E8F3EC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125" b="0">
                <a:solidFill>
                  <a:srgbClr val="E8F3EC"/>
                </a:solidFill>
              </a:defRPr>
            </a:pPr>
            <a:endParaRPr sz="1300" b="0" dirty="0">
              <a:solidFill>
                <a:srgbClr val="E8F3EC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76334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6C4E8A1-BC89-40EA-9B8A-B02462C4C9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D9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9C2A00-F2D2-41C2-B4B6-160CBFB57243}"/>
              </a:ext>
            </a:extLst>
          </p:cNvPr>
          <p:cNvSpPr>
            <a:spLocks noGrp="1"/>
          </p:cNvSpPr>
          <p:nvPr/>
        </p:nvSpPr>
        <p:spPr>
          <a:xfrm>
            <a:off x="419100" y="0"/>
            <a:ext cx="76200" cy="6858000"/>
          </a:xfrm>
          <a:prstGeom prst="rect">
            <a:avLst/>
          </a:prstGeom>
          <a:solidFill>
            <a:srgbClr val="C5D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9D367C-2EB9-4B48-9CAD-6AE919CD893B}"/>
              </a:ext>
            </a:extLst>
          </p:cNvPr>
          <p:cNvSpPr>
            <a:spLocks noGrp="1"/>
          </p:cNvSpPr>
          <p:nvPr/>
        </p:nvSpPr>
        <p:spPr>
          <a:xfrm>
            <a:off x="11258550" y="0"/>
            <a:ext cx="933449" cy="6858000"/>
          </a:xfrm>
          <a:prstGeom prst="rect">
            <a:avLst/>
          </a:prstGeom>
          <a:solidFill>
            <a:srgbClr val="ECE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404A55-725A-46EC-927E-95B7251CA092}"/>
              </a:ext>
            </a:extLst>
          </p:cNvPr>
          <p:cNvSpPr>
            <a:spLocks noGrp="1"/>
          </p:cNvSpPr>
          <p:nvPr/>
        </p:nvSpPr>
        <p:spPr>
          <a:xfrm>
            <a:off x="11363325" y="314325"/>
            <a:ext cx="7429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11CCD7-205A-4E9F-93E3-1199864FEB3C}"/>
              </a:ext>
            </a:extLst>
          </p:cNvPr>
          <p:cNvSpPr>
            <a:spLocks noGrp="1"/>
          </p:cNvSpPr>
          <p:nvPr/>
        </p:nvSpPr>
        <p:spPr>
          <a:xfrm>
            <a:off x="11363325" y="447675"/>
            <a:ext cx="5143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C6436E-0F75-4521-BB9B-D091DB809BD4}"/>
              </a:ext>
            </a:extLst>
          </p:cNvPr>
          <p:cNvSpPr>
            <a:spLocks noGrp="1"/>
          </p:cNvSpPr>
          <p:nvPr/>
        </p:nvSpPr>
        <p:spPr>
          <a:xfrm>
            <a:off x="11363325" y="581025"/>
            <a:ext cx="26670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66A0D4-D537-4E64-82E1-24ED4071F61F}"/>
              </a:ext>
            </a:extLst>
          </p:cNvPr>
          <p:cNvSpPr>
            <a:spLocks noGrp="1"/>
          </p:cNvSpPr>
          <p:nvPr/>
        </p:nvSpPr>
        <p:spPr>
          <a:xfrm>
            <a:off x="1066800" y="209550"/>
            <a:ext cx="8572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273138"/>
                </a:solidFill>
              </a:defRPr>
            </a:pPr>
            <a:r>
              <a:rPr sz="2850" b="1">
                <a:solidFill>
                  <a:srgbClr val="273138"/>
                </a:solidFill>
                <a:latin typeface="Arial"/>
                <a:ea typeface="Arial"/>
                <a:cs typeface="Arial"/>
              </a:rPr>
              <a:t>Tabella dei tentativi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FAD563-B8B2-4603-9B52-3FA9A7208656}"/>
              </a:ext>
            </a:extLst>
          </p:cNvPr>
          <p:cNvSpPr>
            <a:spLocks noGrp="1"/>
          </p:cNvSpPr>
          <p:nvPr/>
        </p:nvSpPr>
        <p:spPr>
          <a:xfrm>
            <a:off x="7810500" y="6248400"/>
            <a:ext cx="2619375" cy="38100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19" name="Table 18"/>
          <p:cNvGraphicFramePr/>
          <p:nvPr>
            <p:extLst>
              <p:ext uri="{D42A27DB-BD31-4B8C-83A1-F6EECF244321}">
                <p14:modId xmlns:p14="http://schemas.microsoft.com/office/powerpoint/2010/main" val="1059391825"/>
              </p:ext>
            </p:extLst>
          </p:nvPr>
        </p:nvGraphicFramePr>
        <p:xfrm>
          <a:off x="1009650" y="1352550"/>
          <a:ext cx="10048875" cy="2952750"/>
        </p:xfrm>
        <a:graphic>
          <a:graphicData uri="http://schemas.openxmlformats.org/drawingml/2006/table">
            <a:tbl>
              <a:tblPr/>
              <a:tblGrid>
                <a:gridCol w="2375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7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6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 marL="76200" marR="76200" marT="47625" marB="47625">
                    <a:solidFill>
                      <a:srgbClr val="4F79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Tentativi</a:t>
                      </a:r>
                    </a:p>
                  </a:txBody>
                  <a:tcPr marL="76200" marR="76200" marT="47625" marB="47625">
                    <a:solidFill>
                      <a:srgbClr val="4F79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Effetto</a:t>
                      </a:r>
                    </a:p>
                  </a:txBody>
                  <a:tcPr marL="76200" marR="76200" marT="47625" marB="47625">
                    <a:solidFill>
                      <a:srgbClr val="4F79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Rischio</a:t>
                      </a:r>
                    </a:p>
                  </a:txBody>
                  <a:tcPr marL="76200" marR="76200" marT="47625" marB="47625">
                    <a:solidFill>
                      <a:srgbClr val="4F79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Login senza limiti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illimitati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lo script continua finche vuole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alto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Solo password complesse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illimitati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273138"/>
                          </a:solidFill>
                        </a:rPr>
                        <a:t>aiuta</a:t>
                      </a:r>
                      <a:r>
                        <a:rPr sz="1600" dirty="0">
                          <a:solidFill>
                            <a:srgbClr val="273138"/>
                          </a:solidFill>
                        </a:rPr>
                        <a:t>, ma non </a:t>
                      </a:r>
                      <a:r>
                        <a:rPr sz="1600" dirty="0" err="1">
                          <a:solidFill>
                            <a:srgbClr val="273138"/>
                          </a:solidFill>
                        </a:rPr>
                        <a:t>ferma</a:t>
                      </a:r>
                      <a:r>
                        <a:rPr sz="1600" dirty="0">
                          <a:solidFill>
                            <a:srgbClr val="273138"/>
                          </a:solidFill>
                        </a:rPr>
                        <a:t> le </a:t>
                      </a:r>
                      <a:r>
                        <a:rPr sz="1600" dirty="0" err="1">
                          <a:solidFill>
                            <a:srgbClr val="273138"/>
                          </a:solidFill>
                        </a:rPr>
                        <a:t>richieste</a:t>
                      </a:r>
                      <a:endParaRPr sz="1600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medio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273138"/>
                          </a:solidFill>
                        </a:rPr>
                        <a:t>Blocco</a:t>
                      </a:r>
                      <a:r>
                        <a:rPr lang="it-IT" sz="1600" dirty="0">
                          <a:solidFill>
                            <a:srgbClr val="273138"/>
                          </a:solidFill>
                        </a:rPr>
                        <a:t> Username</a:t>
                      </a:r>
                      <a:endParaRPr sz="1600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5 tentativi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273138"/>
                          </a:solidFill>
                        </a:rPr>
                        <a:t>account </a:t>
                      </a:r>
                      <a:r>
                        <a:rPr sz="1600" dirty="0" err="1">
                          <a:solidFill>
                            <a:srgbClr val="273138"/>
                          </a:solidFill>
                        </a:rPr>
                        <a:t>fermato</a:t>
                      </a:r>
                      <a:r>
                        <a:rPr sz="1600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sz="1600" dirty="0" err="1">
                          <a:solidFill>
                            <a:srgbClr val="273138"/>
                          </a:solidFill>
                        </a:rPr>
                        <a:t>temporaneamente</a:t>
                      </a:r>
                      <a:r>
                        <a:rPr lang="it-IT" sz="1600" dirty="0">
                          <a:solidFill>
                            <a:srgbClr val="273138"/>
                          </a:solidFill>
                        </a:rPr>
                        <a:t> (aggirabile)</a:t>
                      </a:r>
                      <a:endParaRPr sz="1600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basso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Username + IP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5 per combinazione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273138"/>
                          </a:solidFill>
                        </a:rPr>
                        <a:t>piu difficile </a:t>
                      </a:r>
                      <a:r>
                        <a:rPr lang="it-IT" sz="1600" dirty="0">
                          <a:solidFill>
                            <a:srgbClr val="273138"/>
                          </a:solidFill>
                        </a:rPr>
                        <a:t>da </a:t>
                      </a:r>
                      <a:r>
                        <a:rPr sz="1600" dirty="0" err="1">
                          <a:solidFill>
                            <a:srgbClr val="273138"/>
                          </a:solidFill>
                        </a:rPr>
                        <a:t>aggirare</a:t>
                      </a:r>
                      <a:endParaRPr sz="1600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rgbClr val="273138"/>
                          </a:solidFill>
                        </a:rPr>
                        <a:t>Molto </a:t>
                      </a:r>
                      <a:r>
                        <a:rPr sz="1600" dirty="0">
                          <a:solidFill>
                            <a:srgbClr val="273138"/>
                          </a:solidFill>
                        </a:rPr>
                        <a:t>pi</a:t>
                      </a:r>
                      <a:r>
                        <a:rPr lang="it-IT" sz="1600" dirty="0">
                          <a:solidFill>
                            <a:srgbClr val="273138"/>
                          </a:solidFill>
                        </a:rPr>
                        <a:t>ù</a:t>
                      </a:r>
                      <a:r>
                        <a:rPr sz="1600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sz="1600" dirty="0" err="1">
                          <a:solidFill>
                            <a:srgbClr val="273138"/>
                          </a:solidFill>
                        </a:rPr>
                        <a:t>controllato</a:t>
                      </a:r>
                      <a:endParaRPr sz="1600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FBCEF897-1DB6-44F9-AA0A-5C8ACC2926FF}"/>
              </a:ext>
            </a:extLst>
          </p:cNvPr>
          <p:cNvSpPr>
            <a:spLocks noGrp="1"/>
          </p:cNvSpPr>
          <p:nvPr/>
        </p:nvSpPr>
        <p:spPr>
          <a:xfrm>
            <a:off x="3305174" y="5238750"/>
            <a:ext cx="9239251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Il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limite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serve a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impedi</a:t>
            </a:r>
            <a:r>
              <a:rPr lang="it-IT"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re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che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il form di login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diventi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un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bersaglio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illimitato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3843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646AD16-45E3-477C-A0FF-53A58F1E4137}"/>
              </a:ext>
            </a:extLst>
          </p:cNvPr>
          <p:cNvSpPr>
            <a:spLocks noGrp="1"/>
          </p:cNvSpPr>
          <p:nvPr/>
        </p:nvSpPr>
        <p:spPr>
          <a:xfrm>
            <a:off x="10620375" y="0"/>
            <a:ext cx="1571625" cy="6858000"/>
          </a:xfrm>
          <a:prstGeom prst="rect">
            <a:avLst/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5A1349-8F32-4AFB-A30C-3B4F37B43E03}"/>
              </a:ext>
            </a:extLst>
          </p:cNvPr>
          <p:cNvSpPr>
            <a:spLocks noGrp="1"/>
          </p:cNvSpPr>
          <p:nvPr/>
        </p:nvSpPr>
        <p:spPr>
          <a:xfrm>
            <a:off x="342900" y="933450"/>
            <a:ext cx="257175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7DDC70-3E6A-4A04-B18B-732094881078}"/>
              </a:ext>
            </a:extLst>
          </p:cNvPr>
          <p:cNvSpPr>
            <a:spLocks noGrp="1"/>
          </p:cNvSpPr>
          <p:nvPr/>
        </p:nvSpPr>
        <p:spPr>
          <a:xfrm>
            <a:off x="10763250" y="400050"/>
            <a:ext cx="7429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F08410-EAB6-40F3-AF8C-9C3753F7316E}"/>
              </a:ext>
            </a:extLst>
          </p:cNvPr>
          <p:cNvSpPr>
            <a:spLocks noGrp="1"/>
          </p:cNvSpPr>
          <p:nvPr/>
        </p:nvSpPr>
        <p:spPr>
          <a:xfrm>
            <a:off x="10763250" y="533400"/>
            <a:ext cx="5143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EE3C11-2FF3-42A4-BBA4-0B008B2EA36A}"/>
              </a:ext>
            </a:extLst>
          </p:cNvPr>
          <p:cNvSpPr>
            <a:spLocks noGrp="1"/>
          </p:cNvSpPr>
          <p:nvPr/>
        </p:nvSpPr>
        <p:spPr>
          <a:xfrm>
            <a:off x="10763250" y="666750"/>
            <a:ext cx="26670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1987D8-3C58-4EE1-8B98-68A46F8D2998}"/>
              </a:ext>
            </a:extLst>
          </p:cNvPr>
          <p:cNvSpPr>
            <a:spLocks noGrp="1"/>
          </p:cNvSpPr>
          <p:nvPr/>
        </p:nvSpPr>
        <p:spPr>
          <a:xfrm>
            <a:off x="342900" y="2095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Configurazione django-axes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4AA83F-EB89-4B57-AFF1-3B277E42E59C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4953000" cy="2476500"/>
          </a:xfrm>
          <a:prstGeom prst="rect">
            <a:avLst/>
          </a:prstGeom>
          <a:solidFill>
            <a:srgbClr val="121B1B"/>
          </a:solidFill>
          <a:ln w="9525">
            <a:solidFill>
              <a:srgbClr val="2732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6CA519-67C0-4ABB-9139-B736B566F2B0}"/>
              </a:ext>
            </a:extLst>
          </p:cNvPr>
          <p:cNvSpPr>
            <a:spLocks noGrp="1"/>
          </p:cNvSpPr>
          <p:nvPr/>
        </p:nvSpPr>
        <p:spPr>
          <a:xfrm>
            <a:off x="838200" y="1562100"/>
            <a:ext cx="4667250" cy="2209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8F3EC"/>
                </a:solidFill>
              </a:defRPr>
            </a:pPr>
            <a:r>
              <a:rPr sz="1275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django</a:t>
            </a:r>
            <a:r>
              <a:rPr sz="1275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-axes==8.3.1</a:t>
            </a:r>
          </a:p>
          <a:p>
            <a:endParaRPr sz="1275" b="0" dirty="0">
              <a:solidFill>
                <a:srgbClr val="E8F3EC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>
                <a:solidFill>
                  <a:srgbClr val="E8F3EC"/>
                </a:solidFill>
              </a:defRPr>
            </a:pPr>
            <a:r>
              <a:rPr sz="1275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AXES_FAILURE_LIMIT = 5</a:t>
            </a:r>
          </a:p>
          <a:p>
            <a:pPr algn="l">
              <a:defRPr sz="1275" b="0">
                <a:solidFill>
                  <a:srgbClr val="E8F3EC"/>
                </a:solidFill>
              </a:defRPr>
            </a:pPr>
            <a:r>
              <a:rPr sz="1275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AXES_COOLOFF_TIME = </a:t>
            </a:r>
            <a:r>
              <a:rPr sz="1275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timedelta</a:t>
            </a:r>
            <a:r>
              <a:rPr sz="1275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(minutes=15)</a:t>
            </a:r>
          </a:p>
          <a:p>
            <a:pPr algn="l">
              <a:defRPr sz="1275" b="0">
                <a:solidFill>
                  <a:srgbClr val="E8F3EC"/>
                </a:solidFill>
              </a:defRPr>
            </a:pPr>
            <a:r>
              <a:rPr sz="1275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AXES_LOCKOUT_PARAMETERS = ["username"]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3B973F-AB58-482F-AE66-25DAA5C93879}"/>
              </a:ext>
            </a:extLst>
          </p:cNvPr>
          <p:cNvSpPr>
            <a:spLocks noGrp="1"/>
          </p:cNvSpPr>
          <p:nvPr/>
        </p:nvSpPr>
        <p:spPr>
          <a:xfrm>
            <a:off x="6286500" y="1476375"/>
            <a:ext cx="4095750" cy="1038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Dopo 5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tentativi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falliti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l'accesso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viene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bloccato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temporaneamente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 La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soglia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riduce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il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numero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di prove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automatiche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senza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rendere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inutilizzabile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l'app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sz="20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6F91F9-ABE6-4D73-B174-A8F28D95F11C}"/>
              </a:ext>
            </a:extLst>
          </p:cNvPr>
          <p:cNvSpPr>
            <a:spLocks noGrp="1"/>
          </p:cNvSpPr>
          <p:nvPr/>
        </p:nvSpPr>
        <p:spPr>
          <a:xfrm>
            <a:off x="857250" y="41719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D9E7EB"/>
                </a:solidFill>
              </a:defRPr>
            </a:pPr>
            <a:r>
              <a:rPr sz="1125" b="1">
                <a:solidFill>
                  <a:srgbClr val="D9E7EB"/>
                </a:solidFill>
                <a:latin typeface="Arial"/>
                <a:ea typeface="Arial"/>
                <a:cs typeface="Arial"/>
              </a:rPr>
              <a:t>settings.py</a:t>
            </a:r>
          </a:p>
        </p:txBody>
      </p:sp>
    </p:spTree>
    <p:extLst>
      <p:ext uri="{BB962C8B-B14F-4D97-AF65-F5344CB8AC3E}">
        <p14:creationId xmlns:p14="http://schemas.microsoft.com/office/powerpoint/2010/main" val="1022213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17D1029-A5DD-42ED-86AD-F4A398F00819}"/>
              </a:ext>
            </a:extLst>
          </p:cNvPr>
          <p:cNvSpPr>
            <a:spLocks noGrp="1"/>
          </p:cNvSpPr>
          <p:nvPr/>
        </p:nvSpPr>
        <p:spPr>
          <a:xfrm>
            <a:off x="10620375" y="0"/>
            <a:ext cx="1571625" cy="6858000"/>
          </a:xfrm>
          <a:prstGeom prst="rect">
            <a:avLst/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BDF234-90D3-455E-9C59-1FA68D3A5BB0}"/>
              </a:ext>
            </a:extLst>
          </p:cNvPr>
          <p:cNvSpPr>
            <a:spLocks noGrp="1"/>
          </p:cNvSpPr>
          <p:nvPr/>
        </p:nvSpPr>
        <p:spPr>
          <a:xfrm>
            <a:off x="342900" y="933450"/>
            <a:ext cx="257175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91D089-0FA5-4FA1-875B-779DEF97A1BA}"/>
              </a:ext>
            </a:extLst>
          </p:cNvPr>
          <p:cNvSpPr>
            <a:spLocks noGrp="1"/>
          </p:cNvSpPr>
          <p:nvPr/>
        </p:nvSpPr>
        <p:spPr>
          <a:xfrm>
            <a:off x="10763250" y="400050"/>
            <a:ext cx="7429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3E6B2C-B4D3-4CDE-902F-0E3E7958119C}"/>
              </a:ext>
            </a:extLst>
          </p:cNvPr>
          <p:cNvSpPr>
            <a:spLocks noGrp="1"/>
          </p:cNvSpPr>
          <p:nvPr/>
        </p:nvSpPr>
        <p:spPr>
          <a:xfrm>
            <a:off x="10763250" y="533400"/>
            <a:ext cx="5143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8CD5B9-78B5-4FB2-835B-21EA2FB2D308}"/>
              </a:ext>
            </a:extLst>
          </p:cNvPr>
          <p:cNvSpPr>
            <a:spLocks noGrp="1"/>
          </p:cNvSpPr>
          <p:nvPr/>
        </p:nvSpPr>
        <p:spPr>
          <a:xfrm>
            <a:off x="10763250" y="666750"/>
            <a:ext cx="26670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5DAF11-C822-4024-9BDC-7BBC5C8DE4D9}"/>
              </a:ext>
            </a:extLst>
          </p:cNvPr>
          <p:cNvSpPr>
            <a:spLocks noGrp="1"/>
          </p:cNvSpPr>
          <p:nvPr/>
        </p:nvSpPr>
        <p:spPr>
          <a:xfrm>
            <a:off x="342900" y="2095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Risultato dopo tentativi falliti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66238" y="1123950"/>
            <a:ext cx="7807961" cy="438663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2ECF19-D922-4263-942A-AB471EE9ED29}"/>
              </a:ext>
            </a:extLst>
          </p:cNvPr>
          <p:cNvSpPr>
            <a:spLocks noGrp="1"/>
          </p:cNvSpPr>
          <p:nvPr/>
        </p:nvSpPr>
        <p:spPr>
          <a:xfrm>
            <a:off x="1866900" y="5924550"/>
            <a:ext cx="742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050" b="0">
                <a:solidFill>
                  <a:srgbClr val="FFFFFF"/>
                </a:solidFill>
              </a:defRPr>
            </a:pPr>
            <a:r>
              <a:rPr lang="it-IT" sz="10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MESSAGGIO RESTA GENERICO E NON RIVELA SE LA MAIL ESISTE O MENO.</a:t>
            </a:r>
            <a:endParaRPr sz="105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9411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C2D71F-70BA-4C16-841A-F59312BCD526}"/>
              </a:ext>
            </a:extLst>
          </p:cNvPr>
          <p:cNvSpPr>
            <a:spLocks noGrp="1"/>
          </p:cNvSpPr>
          <p:nvPr/>
        </p:nvSpPr>
        <p:spPr>
          <a:xfrm>
            <a:off x="10620375" y="0"/>
            <a:ext cx="1571625" cy="6858000"/>
          </a:xfrm>
          <a:prstGeom prst="rect">
            <a:avLst/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55E01B-604D-4102-A03B-DDF00554AEF3}"/>
              </a:ext>
            </a:extLst>
          </p:cNvPr>
          <p:cNvSpPr>
            <a:spLocks noGrp="1"/>
          </p:cNvSpPr>
          <p:nvPr/>
        </p:nvSpPr>
        <p:spPr>
          <a:xfrm>
            <a:off x="342900" y="933450"/>
            <a:ext cx="257175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317EA3-2427-4A47-920F-BE5725C4E0B8}"/>
              </a:ext>
            </a:extLst>
          </p:cNvPr>
          <p:cNvSpPr>
            <a:spLocks noGrp="1"/>
          </p:cNvSpPr>
          <p:nvPr/>
        </p:nvSpPr>
        <p:spPr>
          <a:xfrm>
            <a:off x="10763250" y="400050"/>
            <a:ext cx="7429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06C3BC-760F-48CF-AE31-0A2A0A67B8C3}"/>
              </a:ext>
            </a:extLst>
          </p:cNvPr>
          <p:cNvSpPr>
            <a:spLocks noGrp="1"/>
          </p:cNvSpPr>
          <p:nvPr/>
        </p:nvSpPr>
        <p:spPr>
          <a:xfrm>
            <a:off x="10763250" y="533400"/>
            <a:ext cx="5143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85C118-DFC2-4B55-8752-F1E326838149}"/>
              </a:ext>
            </a:extLst>
          </p:cNvPr>
          <p:cNvSpPr>
            <a:spLocks noGrp="1"/>
          </p:cNvSpPr>
          <p:nvPr/>
        </p:nvSpPr>
        <p:spPr>
          <a:xfrm>
            <a:off x="10763250" y="666750"/>
            <a:ext cx="26670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D62FF6-C30B-4192-B92F-4FF22425A473}"/>
              </a:ext>
            </a:extLst>
          </p:cNvPr>
          <p:cNvSpPr>
            <a:spLocks noGrp="1"/>
          </p:cNvSpPr>
          <p:nvPr/>
        </p:nvSpPr>
        <p:spPr>
          <a:xfrm>
            <a:off x="342900" y="2095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Warning su indirizzo IP e reset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217" y="1341239"/>
            <a:ext cx="7719831" cy="30478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8285E51-CB0A-44B7-9FCD-67D0226F5E6E}"/>
              </a:ext>
            </a:extLst>
          </p:cNvPr>
          <p:cNvSpPr>
            <a:spLocks noGrp="1"/>
          </p:cNvSpPr>
          <p:nvPr/>
        </p:nvSpPr>
        <p:spPr>
          <a:xfrm>
            <a:off x="7757160" y="1654376"/>
            <a:ext cx="3923347" cy="1922261"/>
          </a:xfrm>
          <a:prstGeom prst="rect">
            <a:avLst/>
          </a:prstGeom>
          <a:solidFill>
            <a:srgbClr val="121B1B"/>
          </a:solidFill>
          <a:ln w="9525">
            <a:solidFill>
              <a:srgbClr val="2732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1B5262-BE6B-471A-B0F0-C7D29F404850}"/>
              </a:ext>
            </a:extLst>
          </p:cNvPr>
          <p:cNvSpPr>
            <a:spLocks noGrp="1"/>
          </p:cNvSpPr>
          <p:nvPr/>
        </p:nvSpPr>
        <p:spPr>
          <a:xfrm>
            <a:off x="7918061" y="1787727"/>
            <a:ext cx="3629096" cy="16389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8F3EC"/>
                </a:solidFill>
              </a:defRPr>
            </a:pPr>
            <a:r>
              <a:rPr sz="105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python manage.py </a:t>
            </a:r>
            <a:r>
              <a:rPr sz="105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axes_reset_username</a:t>
            </a:r>
            <a:r>
              <a:rPr sz="105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giulia.bianchi</a:t>
            </a:r>
            <a:endParaRPr sz="1050" b="0" dirty="0">
              <a:solidFill>
                <a:srgbClr val="E8F3EC"/>
              </a:solidFill>
              <a:latin typeface="Consolas"/>
              <a:ea typeface="Consolas"/>
              <a:cs typeface="Consolas"/>
            </a:endParaRPr>
          </a:p>
          <a:p>
            <a:endParaRPr sz="1050" b="0" dirty="0">
              <a:solidFill>
                <a:srgbClr val="E8F3EC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 b="0">
                <a:solidFill>
                  <a:srgbClr val="E8F3EC"/>
                </a:solidFill>
              </a:defRPr>
            </a:pPr>
            <a:r>
              <a:rPr sz="105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# se </a:t>
            </a:r>
            <a:r>
              <a:rPr sz="105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si</a:t>
            </a:r>
            <a:r>
              <a:rPr sz="105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aggiunge</a:t>
            </a:r>
            <a:r>
              <a:rPr sz="105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anche</a:t>
            </a:r>
            <a:r>
              <a:rPr sz="105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l'IP</a:t>
            </a:r>
            <a:r>
              <a:rPr sz="105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nei</a:t>
            </a:r>
            <a:r>
              <a:rPr sz="105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parametri</a:t>
            </a:r>
            <a:r>
              <a:rPr sz="105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defRPr sz="1050" b="0">
                <a:solidFill>
                  <a:srgbClr val="E8F3EC"/>
                </a:solidFill>
              </a:defRPr>
            </a:pPr>
            <a:r>
              <a:rPr sz="105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python manage.py </a:t>
            </a:r>
            <a:r>
              <a:rPr sz="105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axes_reset</a:t>
            </a:r>
            <a:endParaRPr sz="1050" b="0" dirty="0">
              <a:solidFill>
                <a:srgbClr val="E8F3EC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E64B78-40EA-458C-B685-CD719570ECBE}"/>
              </a:ext>
            </a:extLst>
          </p:cNvPr>
          <p:cNvSpPr>
            <a:spLocks noGrp="1"/>
          </p:cNvSpPr>
          <p:nvPr/>
        </p:nvSpPr>
        <p:spPr>
          <a:xfrm>
            <a:off x="7927657" y="3983238"/>
            <a:ext cx="3619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t"/>
          <a:lstStyle/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Axes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segnala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il solo username </a:t>
            </a:r>
            <a:r>
              <a:rPr lang="it-IT"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è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configurazione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debole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includere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l'indirizzo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IP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rende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il lockout piu difficile da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aggirare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  <a:r>
              <a:rPr lang="it-IT"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lang="it-IT" sz="2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AGENDO DIRETTAMENTE SUL INDIRIZZO DI LOCALHOST.</a:t>
            </a:r>
            <a:endParaRPr sz="20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27856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1610</TotalTime>
  <Words>2117</Words>
  <Application>Microsoft Office PowerPoint</Application>
  <DocSecurity>0</DocSecurity>
  <PresentationFormat>Widescreen</PresentationFormat>
  <Paragraphs>271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Arial Black</vt:lpstr>
      <vt:lpstr>Calibri</vt:lpstr>
      <vt:lpstr>Consolas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Andrea Dell'Anno</cp:lastModifiedBy>
  <cp:revision>33</cp:revision>
  <dcterms:created xsi:type="dcterms:W3CDTF">2026-06-28T09:40:26Z</dcterms:created>
  <dcterms:modified xsi:type="dcterms:W3CDTF">2026-06-30T08:32:41Z</dcterms:modified>
</cp:coreProperties>
</file>